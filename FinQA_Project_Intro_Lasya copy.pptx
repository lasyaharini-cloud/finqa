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60" r:id="rId5"/>
    <p:sldId id="259" r:id="rId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850614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[Speaker Notes]
This is my current FDS-Emerge project direction. The idea is to build an auditable finance question-answering system using the FinQA dataset.
The high-level goal is not to build a generic chatbot. Instead, I want the system to search financial report text and tables, retrieve the most relevant evidence for a question, and then later check whether the answer is actually supported by that evidence.
Right now I am intentionally starting with a retrieval-first baseline because it is more manageable and gives me a solid foundation before moving to answer generation.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[Speaker Notes]
This project is motivated by my internal-audit background. In audit work, supportability matters. You cannot just state a conclusion; you need evidence behind it.
That is exactly the angle I want to bring into this project. In plain words, the system should work like this: a user asks a question about a financial document, the system searches the document, finds the most relevant text or table entries, answers using those parts, and then checks whether the answer is actually supported by the evidence it retrieved.
So the project is not a real corporate audit. It is a finance question-answering system with an audit-style focus on evidence and traceability.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[Speaker Notes]
I decided to use FinQA because it is fully public and easier to start with immediately than a partially released benchmark.
The dataset comes directly from the official GitHub repository and has train, dev, and test splits. Each example is rich: it contains text before the table, text after the table, the financial table itself, the question, the answer, and evidence-related fields.
This is useful because it gives me both unstructured text and structured table content, which makes the retrieval problem more realistic.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[Speaker Notes]
These are the main project questions I want to study at the start. First, can a simple retriever find the right evidence for a finance question? Second, since FinQA includes both surrounding text and tables, does table structure help more than text alone? Third, after retrieval is stable, can I add a basic support label such as supported, weakly supported, or unsupported?
The real-world use case is finance or audit-style review, where it is useful to quickly trace a question back to the relevant evidence instead of manually searching a long report.
This final slide also connects to the instructor guidance. By Thursday, I want to be able to say that I chose the dataset, defined initial project questions, inspected the data structure, and started trying standard retrieval approaches on a subset.
</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[Speaker Notes]
The current code is just a dataset inspection step. It is not doing retrieval yet.
The first helper function, load_split, opens a JSON file such as train.json. The second helper function, flatten_example, takes one complex FinQA example and turns it into a simpler row that is easy to save into a CSV. Then the main function prints useful information, such as the number of examples, the first question, the answer, some evidence keys, and sample table rows.
So this script is helping me understand the dataset structure before building the real baseline. The next baseline will convert the text blocks and table rows into searchable pieces, embed them, and retrieve the most relevant evidence for a question.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5F1"/>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7F5F1"/>
          </a:solidFill>
          <a:ln w="12700">
            <a:solidFill>
              <a:srgbClr val="F7F5F1"/>
            </a:solidFill>
            <a:prstDash val="solid"/>
          </a:ln>
        </p:spPr>
        <p:txBody>
          <a:bodyPr/>
          <a:lstStyle/>
          <a:p>
            <a:endParaRPr lang="en-US"/>
          </a:p>
        </p:txBody>
      </p:sp>
      <p:sp>
        <p:nvSpPr>
          <p:cNvPr id="3" name="Shape 1"/>
          <p:cNvSpPr/>
          <p:nvPr/>
        </p:nvSpPr>
        <p:spPr>
          <a:xfrm>
            <a:off x="594360" y="1188720"/>
            <a:ext cx="201168" cy="3566160"/>
          </a:xfrm>
          <a:prstGeom prst="rect">
            <a:avLst/>
          </a:prstGeom>
          <a:solidFill>
            <a:srgbClr val="0E7490"/>
          </a:solidFill>
          <a:ln w="12700">
            <a:solidFill>
              <a:srgbClr val="0E7490"/>
            </a:solidFill>
            <a:prstDash val="solid"/>
          </a:ln>
        </p:spPr>
        <p:txBody>
          <a:bodyPr/>
          <a:lstStyle/>
          <a:p>
            <a:endParaRPr lang="en-US"/>
          </a:p>
        </p:txBody>
      </p:sp>
      <p:sp>
        <p:nvSpPr>
          <p:cNvPr id="4" name="Text 2"/>
          <p:cNvSpPr/>
          <p:nvPr/>
        </p:nvSpPr>
        <p:spPr>
          <a:xfrm>
            <a:off x="960120" y="1234440"/>
            <a:ext cx="7772400" cy="1188720"/>
          </a:xfrm>
          <a:prstGeom prst="rect">
            <a:avLst/>
          </a:prstGeom>
          <a:noFill/>
          <a:ln/>
        </p:spPr>
        <p:txBody>
          <a:bodyPr wrap="square" rtlCol="0" anchor="ctr"/>
          <a:lstStyle/>
          <a:p>
            <a:pPr marL="0" indent="0">
              <a:buNone/>
            </a:pPr>
            <a:r>
              <a:rPr lang="en-US" sz="2800" b="1" dirty="0">
                <a:solidFill>
                  <a:srgbClr val="19324D"/>
                </a:solidFill>
                <a:latin typeface="Aptos Display" pitchFamily="34" charset="0"/>
                <a:ea typeface="Aptos Display" pitchFamily="34" charset="-122"/>
                <a:cs typeface="Aptos Display" pitchFamily="34" charset="-120"/>
              </a:rPr>
              <a:t>Auditable Finance Question Answering</a:t>
            </a:r>
            <a:endParaRPr lang="en-US" sz="2800" dirty="0"/>
          </a:p>
          <a:p>
            <a:pPr marL="0" indent="0">
              <a:buNone/>
            </a:pPr>
            <a:r>
              <a:rPr lang="en-US" sz="2800" b="1" dirty="0">
                <a:solidFill>
                  <a:srgbClr val="19324D"/>
                </a:solidFill>
                <a:latin typeface="Aptos Display" pitchFamily="34" charset="0"/>
                <a:ea typeface="Aptos Display" pitchFamily="34" charset="-122"/>
                <a:cs typeface="Aptos Display" pitchFamily="34" charset="-120"/>
              </a:rPr>
              <a:t>Using FinQA</a:t>
            </a:r>
            <a:endParaRPr lang="en-US" sz="2800" dirty="0"/>
          </a:p>
        </p:txBody>
      </p:sp>
      <p:sp>
        <p:nvSpPr>
          <p:cNvPr id="5" name="Text 3"/>
          <p:cNvSpPr/>
          <p:nvPr/>
        </p:nvSpPr>
        <p:spPr>
          <a:xfrm>
            <a:off x="987552" y="2514600"/>
            <a:ext cx="3840480" cy="274320"/>
          </a:xfrm>
          <a:prstGeom prst="rect">
            <a:avLst/>
          </a:prstGeom>
          <a:noFill/>
          <a:ln/>
        </p:spPr>
        <p:txBody>
          <a:bodyPr wrap="square" rtlCol="0" anchor="ctr"/>
          <a:lstStyle/>
          <a:p>
            <a:pPr marL="0" indent="0">
              <a:buNone/>
            </a:pPr>
            <a:r>
              <a:rPr lang="en-US" sz="1400" b="1" dirty="0">
                <a:solidFill>
                  <a:srgbClr val="C98A2E"/>
                </a:solidFill>
              </a:rPr>
              <a:t>FDS-Emerge project idea</a:t>
            </a:r>
            <a:endParaRPr lang="en-US" sz="1400" dirty="0"/>
          </a:p>
        </p:txBody>
      </p:sp>
      <p:sp>
        <p:nvSpPr>
          <p:cNvPr id="6" name="Text 4"/>
          <p:cNvSpPr/>
          <p:nvPr/>
        </p:nvSpPr>
        <p:spPr>
          <a:xfrm>
            <a:off x="960120" y="2880360"/>
            <a:ext cx="7315200" cy="1280160"/>
          </a:xfrm>
          <a:prstGeom prst="rect">
            <a:avLst/>
          </a:prstGeom>
          <a:noFill/>
          <a:ln/>
        </p:spPr>
        <p:txBody>
          <a:bodyPr wrap="square" rtlCol="0" anchor="ctr"/>
          <a:lstStyle/>
          <a:p>
            <a:pPr marL="0" indent="0">
              <a:buNone/>
            </a:pPr>
            <a:r>
              <a:rPr lang="en-US" sz="1700" dirty="0">
                <a:solidFill>
                  <a:srgbClr val="1F2937"/>
                </a:solidFill>
              </a:rPr>
              <a:t>Goal: build a retrieval-first system that searches financial report text and tables, finds the most relevant evidence, and later checks whether an answer is actually supported by that evidence.</a:t>
            </a:r>
            <a:endParaRPr lang="en-US" sz="1700" dirty="0"/>
          </a:p>
        </p:txBody>
      </p:sp>
      <p:sp>
        <p:nvSpPr>
          <p:cNvPr id="7" name="Text 5"/>
          <p:cNvSpPr/>
          <p:nvPr/>
        </p:nvSpPr>
        <p:spPr>
          <a:xfrm>
            <a:off x="8503920" y="1508760"/>
            <a:ext cx="2926080" cy="1828800"/>
          </a:xfrm>
          <a:prstGeom prst="roundRect">
            <a:avLst/>
          </a:prstGeom>
          <a:solidFill>
            <a:srgbClr val="19324D"/>
          </a:solidFill>
          <a:ln>
            <a:solidFill>
              <a:srgbClr val="19324D"/>
            </a:solidFill>
          </a:ln>
        </p:spPr>
        <p:txBody>
          <a:bodyPr wrap="square" lIns="1778" tIns="1778" rIns="1778" bIns="1778" rtlCol="0" anchor="ctr"/>
          <a:lstStyle/>
          <a:p>
            <a:pPr marL="0" indent="0">
              <a:buNone/>
            </a:pPr>
            <a:r>
              <a:rPr lang="en-US" sz="1500" dirty="0">
                <a:solidFill>
                  <a:srgbClr val="FFFFFF"/>
                </a:solidFill>
              </a:rPr>
              <a:t>Dataset: FinQA</a:t>
            </a:r>
            <a:endParaRPr lang="en-US" sz="1500" dirty="0"/>
          </a:p>
          <a:p>
            <a:pPr marL="0" indent="0">
              <a:buNone/>
            </a:pPr>
            <a:r>
              <a:rPr lang="en-US" sz="1500" dirty="0">
                <a:solidFill>
                  <a:srgbClr val="FFFFFF"/>
                </a:solidFill>
              </a:rPr>
              <a:t>Framework: Haystack + Sentence Transformers</a:t>
            </a:r>
            <a:endParaRPr lang="en-US" sz="1500" dirty="0"/>
          </a:p>
          <a:p>
            <a:pPr marL="0" indent="0">
              <a:buNone/>
            </a:pPr>
            <a:r>
              <a:rPr lang="en-US" sz="1500" dirty="0">
                <a:solidFill>
                  <a:srgbClr val="FFFFFF"/>
                </a:solidFill>
              </a:rPr>
              <a:t>Current phase: dataset understanding + baseline retrieval</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8046720" cy="457200"/>
          </a:xfrm>
          <a:prstGeom prst="rect">
            <a:avLst/>
          </a:prstGeom>
          <a:noFill/>
          <a:ln/>
        </p:spPr>
        <p:txBody>
          <a:bodyPr wrap="square" rtlCol="0" anchor="ctr"/>
          <a:lstStyle/>
          <a:p>
            <a:pPr marL="0" indent="0">
              <a:buNone/>
            </a:pPr>
            <a:r>
              <a:rPr lang="en-US" sz="2400" b="1" dirty="0">
                <a:solidFill>
                  <a:srgbClr val="19324D"/>
                </a:solidFill>
                <a:latin typeface="Aptos Display" pitchFamily="34" charset="0"/>
                <a:ea typeface="Aptos Display" pitchFamily="34" charset="-122"/>
                <a:cs typeface="Aptos Display" pitchFamily="34" charset="-120"/>
              </a:rPr>
              <a:t>Why This Project?</a:t>
            </a:r>
            <a:endParaRPr lang="en-US" sz="2400" dirty="0"/>
          </a:p>
        </p:txBody>
      </p:sp>
      <p:sp>
        <p:nvSpPr>
          <p:cNvPr id="3" name="Text 1"/>
          <p:cNvSpPr/>
          <p:nvPr/>
        </p:nvSpPr>
        <p:spPr>
          <a:xfrm>
            <a:off x="548640" y="804672"/>
            <a:ext cx="10515600" cy="320040"/>
          </a:xfrm>
          <a:prstGeom prst="rect">
            <a:avLst/>
          </a:prstGeom>
          <a:noFill/>
          <a:ln/>
        </p:spPr>
        <p:txBody>
          <a:bodyPr wrap="square" rtlCol="0" anchor="ctr"/>
          <a:lstStyle/>
          <a:p>
            <a:pPr marL="0" indent="0">
              <a:buNone/>
            </a:pPr>
            <a:r>
              <a:rPr lang="en-US" sz="1050" dirty="0">
                <a:solidFill>
                  <a:srgbClr val="40566B"/>
                </a:solidFill>
                <a:latin typeface="Aptos" pitchFamily="34" charset="0"/>
                <a:ea typeface="Aptos" pitchFamily="34" charset="-122"/>
                <a:cs typeface="Aptos" pitchFamily="34" charset="-120"/>
              </a:rPr>
              <a:t>Motivation and personal connection</a:t>
            </a:r>
            <a:endParaRPr lang="en-US" sz="1050" dirty="0"/>
          </a:p>
        </p:txBody>
      </p:sp>
      <p:sp>
        <p:nvSpPr>
          <p:cNvPr id="4" name="Shape 2"/>
          <p:cNvSpPr/>
          <p:nvPr/>
        </p:nvSpPr>
        <p:spPr>
          <a:xfrm>
            <a:off x="548640" y="1115568"/>
            <a:ext cx="10515600" cy="0"/>
          </a:xfrm>
          <a:prstGeom prst="line">
            <a:avLst/>
          </a:prstGeom>
          <a:noFill/>
          <a:ln w="12700">
            <a:solidFill>
              <a:srgbClr val="C98A2E"/>
            </a:solidFill>
            <a:prstDash val="solid"/>
          </a:ln>
        </p:spPr>
        <p:txBody>
          <a:bodyPr/>
          <a:lstStyle/>
          <a:p>
            <a:endParaRPr lang="en-US"/>
          </a:p>
        </p:txBody>
      </p:sp>
      <p:sp>
        <p:nvSpPr>
          <p:cNvPr id="5" name="Text 3"/>
          <p:cNvSpPr/>
          <p:nvPr/>
        </p:nvSpPr>
        <p:spPr>
          <a:xfrm>
            <a:off x="731520" y="1417320"/>
            <a:ext cx="5486400" cy="4389120"/>
          </a:xfrm>
          <a:prstGeom prst="rect">
            <a:avLst/>
          </a:prstGeom>
          <a:noFill/>
          <a:ln/>
        </p:spPr>
        <p:txBody>
          <a:bodyPr wrap="square" lIns="762" tIns="762" rIns="762" bIns="762" rtlCol="0" anchor="t"/>
          <a:lstStyle/>
          <a:p>
            <a:pPr marL="152400" indent="-152400">
              <a:buSzPct val="100000"/>
              <a:buChar char="•"/>
            </a:pPr>
            <a:r>
              <a:rPr lang="en-US" sz="1600" dirty="0">
                <a:solidFill>
                  <a:srgbClr val="1F2937"/>
                </a:solidFill>
                <a:latin typeface="Aptos" pitchFamily="34" charset="0"/>
                <a:ea typeface="Aptos" pitchFamily="34" charset="-122"/>
                <a:cs typeface="Aptos" pitchFamily="34" charset="-120"/>
              </a:rPr>
              <a:t>In finance, an answer is not useful if it cannot be tied back to the right source text or table entry.</a:t>
            </a:r>
            <a:endParaRPr lang="en-US" sz="1600" dirty="0"/>
          </a:p>
          <a:p>
            <a:pPr marL="152400" indent="-152400">
              <a:buSzPct val="100000"/>
              <a:buChar char="•"/>
            </a:pPr>
            <a:r>
              <a:rPr lang="en-US" sz="1600" dirty="0">
                <a:solidFill>
                  <a:srgbClr val="1F2937"/>
                </a:solidFill>
                <a:latin typeface="Aptos" pitchFamily="34" charset="0"/>
                <a:ea typeface="Aptos" pitchFamily="34" charset="-122"/>
                <a:cs typeface="Aptos" pitchFamily="34" charset="-120"/>
              </a:rPr>
              <a:t>So I want to bring an audit mindset into a retrieval-augmented QA workflow.</a:t>
            </a:r>
            <a:endParaRPr lang="en-US" sz="1600" dirty="0"/>
          </a:p>
        </p:txBody>
      </p:sp>
      <p:sp>
        <p:nvSpPr>
          <p:cNvPr id="6" name="Shape 4"/>
          <p:cNvSpPr/>
          <p:nvPr/>
        </p:nvSpPr>
        <p:spPr>
          <a:xfrm>
            <a:off x="6629400" y="1600200"/>
            <a:ext cx="4663440" cy="3017520"/>
          </a:xfrm>
          <a:prstGeom prst="roundRect">
            <a:avLst/>
          </a:prstGeom>
          <a:solidFill>
            <a:srgbClr val="E8EEF3"/>
          </a:solidFill>
          <a:ln w="12700">
            <a:solidFill>
              <a:srgbClr val="E8EEF3"/>
            </a:solidFill>
            <a:prstDash val="solid"/>
          </a:ln>
        </p:spPr>
        <p:txBody>
          <a:bodyPr/>
          <a:lstStyle/>
          <a:p>
            <a:endParaRPr lang="en-US"/>
          </a:p>
        </p:txBody>
      </p:sp>
      <p:sp>
        <p:nvSpPr>
          <p:cNvPr id="7" name="Text 5"/>
          <p:cNvSpPr/>
          <p:nvPr/>
        </p:nvSpPr>
        <p:spPr>
          <a:xfrm>
            <a:off x="6903720" y="1828800"/>
            <a:ext cx="4023360" cy="320040"/>
          </a:xfrm>
          <a:prstGeom prst="rect">
            <a:avLst/>
          </a:prstGeom>
          <a:noFill/>
          <a:ln/>
        </p:spPr>
        <p:txBody>
          <a:bodyPr wrap="square" rtlCol="0" anchor="ctr"/>
          <a:lstStyle/>
          <a:p>
            <a:pPr marL="0" indent="0">
              <a:buNone/>
            </a:pPr>
            <a:r>
              <a:rPr lang="en-US" sz="1700" b="1" dirty="0">
                <a:solidFill>
                  <a:srgbClr val="19324D"/>
                </a:solidFill>
              </a:rPr>
              <a:t>Plain-language project idea</a:t>
            </a:r>
            <a:endParaRPr lang="en-US" sz="1700" dirty="0"/>
          </a:p>
        </p:txBody>
      </p:sp>
      <p:sp>
        <p:nvSpPr>
          <p:cNvPr id="8" name="Text 6"/>
          <p:cNvSpPr/>
          <p:nvPr/>
        </p:nvSpPr>
        <p:spPr>
          <a:xfrm>
            <a:off x="6903720" y="2240280"/>
            <a:ext cx="3886200" cy="1965960"/>
          </a:xfrm>
          <a:prstGeom prst="rect">
            <a:avLst/>
          </a:prstGeom>
          <a:noFill/>
          <a:ln/>
        </p:spPr>
        <p:txBody>
          <a:bodyPr wrap="square" rtlCol="0" anchor="ctr"/>
          <a:lstStyle/>
          <a:p>
            <a:pPr marL="0" indent="0">
              <a:buNone/>
            </a:pPr>
            <a:r>
              <a:rPr lang="en-US" sz="1600" dirty="0">
                <a:solidFill>
                  <a:srgbClr val="1F2937"/>
                </a:solidFill>
              </a:rPr>
              <a:t>Someone asks a question about a financial document.</a:t>
            </a:r>
            <a:endParaRPr lang="en-US" sz="1600" dirty="0"/>
          </a:p>
          <a:p>
            <a:pPr marL="0" indent="0">
              <a:buNone/>
            </a:pPr>
            <a:r>
              <a:rPr lang="en-US" sz="1600" dirty="0">
                <a:solidFill>
                  <a:srgbClr val="1F2937"/>
                </a:solidFill>
              </a:rPr>
              <a:t>The system searches the document.</a:t>
            </a:r>
            <a:endParaRPr lang="en-US" sz="1600" dirty="0"/>
          </a:p>
          <a:p>
            <a:pPr marL="0" indent="0">
              <a:buNone/>
            </a:pPr>
            <a:r>
              <a:rPr lang="en-US" sz="1600" dirty="0">
                <a:solidFill>
                  <a:srgbClr val="1F2937"/>
                </a:solidFill>
              </a:rPr>
              <a:t>It finds the most relevant parts.</a:t>
            </a:r>
            <a:endParaRPr lang="en-US" sz="1600" dirty="0"/>
          </a:p>
          <a:p>
            <a:pPr marL="0" indent="0">
              <a:buNone/>
            </a:pPr>
            <a:r>
              <a:rPr lang="en-US" sz="1600" dirty="0">
                <a:solidFill>
                  <a:srgbClr val="1F2937"/>
                </a:solidFill>
              </a:rPr>
              <a:t>Then it answers using those parts.</a:t>
            </a:r>
            <a:endParaRPr lang="en-US" sz="1600" dirty="0"/>
          </a:p>
          <a:p>
            <a:pPr marL="0" indent="0">
              <a:buNone/>
            </a:pPr>
            <a:r>
              <a:rPr lang="en-US" sz="1600" dirty="0">
                <a:solidFill>
                  <a:srgbClr val="1F2937"/>
                </a:solidFill>
              </a:rPr>
              <a:t>Then we check whether the answer is actually supported by the evidence.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F1"/>
        </a:solidFill>
        <a:effectLst/>
      </p:bgPr>
    </p:bg>
    <p:spTree>
      <p:nvGrpSpPr>
        <p:cNvPr id="1" name=""/>
        <p:cNvGrpSpPr/>
        <p:nvPr/>
      </p:nvGrpSpPr>
      <p:grpSpPr>
        <a:xfrm>
          <a:off x="0" y="0"/>
          <a:ext cx="0" cy="0"/>
          <a:chOff x="0" y="0"/>
          <a:chExt cx="0" cy="0"/>
        </a:xfrm>
      </p:grpSpPr>
      <p:sp>
        <p:nvSpPr>
          <p:cNvPr id="2" name="Text 0"/>
          <p:cNvSpPr/>
          <p:nvPr/>
        </p:nvSpPr>
        <p:spPr>
          <a:xfrm>
            <a:off x="548640" y="320040"/>
            <a:ext cx="8046720" cy="457200"/>
          </a:xfrm>
          <a:prstGeom prst="rect">
            <a:avLst/>
          </a:prstGeom>
          <a:noFill/>
          <a:ln/>
        </p:spPr>
        <p:txBody>
          <a:bodyPr wrap="square" rtlCol="0" anchor="ctr"/>
          <a:lstStyle/>
          <a:p>
            <a:pPr marL="0" indent="0">
              <a:buNone/>
            </a:pPr>
            <a:r>
              <a:rPr lang="en-US" sz="2400" b="1" dirty="0">
                <a:solidFill>
                  <a:srgbClr val="19324D"/>
                </a:solidFill>
                <a:latin typeface="Aptos Display" pitchFamily="34" charset="0"/>
                <a:ea typeface="Aptos Display" pitchFamily="34" charset="-122"/>
                <a:cs typeface="Aptos Display" pitchFamily="34" charset="-120"/>
              </a:rPr>
              <a:t>Dataset: FinQA</a:t>
            </a:r>
            <a:endParaRPr lang="en-US" sz="2400" dirty="0"/>
          </a:p>
        </p:txBody>
      </p:sp>
      <p:sp>
        <p:nvSpPr>
          <p:cNvPr id="3" name="Text 1"/>
          <p:cNvSpPr/>
          <p:nvPr/>
        </p:nvSpPr>
        <p:spPr>
          <a:xfrm>
            <a:off x="548640" y="804672"/>
            <a:ext cx="10515600" cy="320040"/>
          </a:xfrm>
          <a:prstGeom prst="rect">
            <a:avLst/>
          </a:prstGeom>
          <a:noFill/>
          <a:ln/>
        </p:spPr>
        <p:txBody>
          <a:bodyPr wrap="square" rtlCol="0" anchor="ctr"/>
          <a:lstStyle/>
          <a:p>
            <a:pPr marL="0" indent="0">
              <a:buNone/>
            </a:pPr>
            <a:r>
              <a:rPr lang="en-US" sz="1050" dirty="0">
                <a:solidFill>
                  <a:srgbClr val="40566B"/>
                </a:solidFill>
                <a:latin typeface="Aptos" pitchFamily="34" charset="0"/>
                <a:ea typeface="Aptos" pitchFamily="34" charset="-122"/>
                <a:cs typeface="Aptos" pitchFamily="34" charset="-120"/>
              </a:rPr>
              <a:t>Fully public financial QA benchmark from GitHub</a:t>
            </a:r>
            <a:endParaRPr lang="en-US" sz="1050" dirty="0"/>
          </a:p>
        </p:txBody>
      </p:sp>
      <p:sp>
        <p:nvSpPr>
          <p:cNvPr id="4" name="Shape 2"/>
          <p:cNvSpPr/>
          <p:nvPr/>
        </p:nvSpPr>
        <p:spPr>
          <a:xfrm>
            <a:off x="548640" y="1115568"/>
            <a:ext cx="10515600" cy="0"/>
          </a:xfrm>
          <a:prstGeom prst="line">
            <a:avLst/>
          </a:prstGeom>
          <a:noFill/>
          <a:ln w="12700">
            <a:solidFill>
              <a:srgbClr val="C98A2E"/>
            </a:solidFill>
            <a:prstDash val="solid"/>
          </a:ln>
        </p:spPr>
        <p:txBody>
          <a:bodyPr/>
          <a:lstStyle/>
          <a:p>
            <a:endParaRPr lang="en-US"/>
          </a:p>
        </p:txBody>
      </p:sp>
      <p:sp>
        <p:nvSpPr>
          <p:cNvPr id="5" name="Text 3"/>
          <p:cNvSpPr/>
          <p:nvPr/>
        </p:nvSpPr>
        <p:spPr>
          <a:xfrm>
            <a:off x="731520" y="1417320"/>
            <a:ext cx="5852160" cy="4389120"/>
          </a:xfrm>
          <a:prstGeom prst="rect">
            <a:avLst/>
          </a:prstGeom>
          <a:noFill/>
          <a:ln/>
        </p:spPr>
        <p:txBody>
          <a:bodyPr wrap="square" lIns="762" tIns="762" rIns="762" bIns="762" rtlCol="0" anchor="t"/>
          <a:lstStyle/>
          <a:p>
            <a:pPr marL="152400" indent="-152400">
              <a:buSzPct val="100000"/>
              <a:buChar char="•"/>
            </a:pPr>
            <a:r>
              <a:rPr lang="en-US" sz="1600" dirty="0">
                <a:solidFill>
                  <a:srgbClr val="1F2937"/>
                </a:solidFill>
                <a:latin typeface="Aptos" pitchFamily="34" charset="0"/>
                <a:ea typeface="Aptos" pitchFamily="34" charset="-122"/>
                <a:cs typeface="Aptos" pitchFamily="34" charset="-120"/>
              </a:rPr>
              <a:t>Official source: https://github.com/czyssrs/FinQA</a:t>
            </a:r>
            <a:endParaRPr lang="en-US" sz="1600" dirty="0"/>
          </a:p>
          <a:p>
            <a:pPr marL="152400" indent="-152400">
              <a:buSzPct val="100000"/>
              <a:buChar char="•"/>
            </a:pPr>
            <a:r>
              <a:rPr lang="en-US" sz="1600" dirty="0">
                <a:solidFill>
                  <a:srgbClr val="1F2937"/>
                </a:solidFill>
                <a:latin typeface="Aptos" pitchFamily="34" charset="0"/>
                <a:ea typeface="Aptos" pitchFamily="34" charset="-122"/>
                <a:cs typeface="Aptos" pitchFamily="34" charset="-120"/>
              </a:rPr>
              <a:t>Paper: https://arxiv.org/abs/2109.00122</a:t>
            </a:r>
            <a:endParaRPr lang="en-US" sz="1600" dirty="0"/>
          </a:p>
          <a:p>
            <a:pPr marL="152400" indent="-152400">
              <a:buSzPct val="100000"/>
              <a:buChar char="•"/>
            </a:pPr>
            <a:r>
              <a:rPr lang="en-US" sz="1600" dirty="0">
                <a:solidFill>
                  <a:srgbClr val="1F2937"/>
                </a:solidFill>
                <a:latin typeface="Aptos" pitchFamily="34" charset="0"/>
                <a:ea typeface="Aptos" pitchFamily="34" charset="-122"/>
                <a:cs typeface="Aptos" pitchFamily="34" charset="-120"/>
              </a:rPr>
              <a:t>Current public splits loaded locally from GitHub:</a:t>
            </a:r>
            <a:endParaRPr lang="en-US" sz="1600" dirty="0"/>
          </a:p>
          <a:p>
            <a:pPr marL="152400" indent="-152400">
              <a:buSzPct val="100000"/>
              <a:buChar char="•"/>
            </a:pPr>
            <a:r>
              <a:rPr lang="en-US" sz="1600" dirty="0">
                <a:solidFill>
                  <a:srgbClr val="1F2937"/>
                </a:solidFill>
                <a:latin typeface="Aptos" pitchFamily="34" charset="0"/>
                <a:ea typeface="Aptos" pitchFamily="34" charset="-122"/>
                <a:cs typeface="Aptos" pitchFamily="34" charset="-120"/>
              </a:rPr>
              <a:t>Train: 6,251 examples | Dev: 883 | Test: 1,147</a:t>
            </a:r>
            <a:endParaRPr lang="en-US" sz="1600" dirty="0"/>
          </a:p>
          <a:p>
            <a:pPr marL="152400" indent="-152400">
              <a:buSzPct val="100000"/>
              <a:buChar char="•"/>
            </a:pPr>
            <a:r>
              <a:rPr lang="en-US" sz="1600" dirty="0">
                <a:solidFill>
                  <a:srgbClr val="1F2937"/>
                </a:solidFill>
                <a:latin typeface="Aptos" pitchFamily="34" charset="0"/>
                <a:ea typeface="Aptos" pitchFamily="34" charset="-122"/>
                <a:cs typeface="Aptos" pitchFamily="34" charset="-120"/>
              </a:rPr>
              <a:t>Each example includes report text, a financial table, a question, a reference answer, and gold evidence signals.</a:t>
            </a:r>
            <a:endParaRPr lang="en-US" sz="1600" dirty="0"/>
          </a:p>
        </p:txBody>
      </p:sp>
      <p:sp>
        <p:nvSpPr>
          <p:cNvPr id="6" name="Shape 4"/>
          <p:cNvSpPr/>
          <p:nvPr/>
        </p:nvSpPr>
        <p:spPr>
          <a:xfrm>
            <a:off x="6812280" y="1508760"/>
            <a:ext cx="4526280" cy="4297680"/>
          </a:xfrm>
          <a:prstGeom prst="roundRect">
            <a:avLst/>
          </a:prstGeom>
          <a:solidFill>
            <a:srgbClr val="FFFFFF"/>
          </a:solidFill>
          <a:ln w="12700">
            <a:solidFill>
              <a:srgbClr val="C98A2E"/>
            </a:solidFill>
            <a:prstDash val="solid"/>
          </a:ln>
        </p:spPr>
        <p:txBody>
          <a:bodyPr/>
          <a:lstStyle/>
          <a:p>
            <a:endParaRPr lang="en-US"/>
          </a:p>
        </p:txBody>
      </p:sp>
      <p:sp>
        <p:nvSpPr>
          <p:cNvPr id="7" name="Text 5"/>
          <p:cNvSpPr/>
          <p:nvPr/>
        </p:nvSpPr>
        <p:spPr>
          <a:xfrm>
            <a:off x="7086600" y="1783080"/>
            <a:ext cx="3840480" cy="274320"/>
          </a:xfrm>
          <a:prstGeom prst="rect">
            <a:avLst/>
          </a:prstGeom>
          <a:noFill/>
          <a:ln/>
        </p:spPr>
        <p:txBody>
          <a:bodyPr wrap="square" rtlCol="0" anchor="ctr"/>
          <a:lstStyle/>
          <a:p>
            <a:pPr marL="0" indent="0">
              <a:buNone/>
            </a:pPr>
            <a:r>
              <a:rPr lang="en-US" sz="1700" b="1" dirty="0">
                <a:solidFill>
                  <a:srgbClr val="19324D"/>
                </a:solidFill>
              </a:rPr>
              <a:t>How one FinQA row is structured</a:t>
            </a:r>
            <a:endParaRPr lang="en-US" sz="1700" dirty="0"/>
          </a:p>
        </p:txBody>
      </p:sp>
      <p:sp>
        <p:nvSpPr>
          <p:cNvPr id="8" name="Text 6"/>
          <p:cNvSpPr/>
          <p:nvPr/>
        </p:nvSpPr>
        <p:spPr>
          <a:xfrm>
            <a:off x="7269480" y="2240280"/>
            <a:ext cx="3291840" cy="2834640"/>
          </a:xfrm>
          <a:prstGeom prst="rect">
            <a:avLst/>
          </a:prstGeom>
          <a:noFill/>
          <a:ln/>
        </p:spPr>
        <p:txBody>
          <a:bodyPr wrap="square" rtlCol="0" anchor="ctr"/>
          <a:lstStyle/>
          <a:p>
            <a:pPr marL="0" indent="0">
              <a:buNone/>
            </a:pPr>
            <a:r>
              <a:rPr lang="en-US" sz="1600" dirty="0">
                <a:solidFill>
                  <a:srgbClr val="1F2937"/>
                </a:solidFill>
                <a:latin typeface="Courier New" pitchFamily="34" charset="0"/>
                <a:ea typeface="Courier New" pitchFamily="34" charset="-122"/>
                <a:cs typeface="Courier New" pitchFamily="34" charset="-120"/>
              </a:rPr>
              <a:t>filename</a:t>
            </a:r>
            <a:endParaRPr lang="en-US" sz="1600" dirty="0"/>
          </a:p>
          <a:p>
            <a:pPr marL="0" indent="0">
              <a:buNone/>
            </a:pPr>
            <a:r>
              <a:rPr lang="en-US" sz="1600" dirty="0">
                <a:solidFill>
                  <a:srgbClr val="1F2937"/>
                </a:solidFill>
                <a:latin typeface="Courier New" pitchFamily="34" charset="0"/>
                <a:ea typeface="Courier New" pitchFamily="34" charset="-122"/>
                <a:cs typeface="Courier New" pitchFamily="34" charset="-120"/>
              </a:rPr>
              <a:t>pre_text</a:t>
            </a:r>
            <a:endParaRPr lang="en-US" sz="1600" dirty="0"/>
          </a:p>
          <a:p>
            <a:pPr marL="0" indent="0">
              <a:buNone/>
            </a:pPr>
            <a:r>
              <a:rPr lang="en-US" sz="1600" dirty="0">
                <a:solidFill>
                  <a:srgbClr val="1F2937"/>
                </a:solidFill>
                <a:latin typeface="Courier New" pitchFamily="34" charset="0"/>
                <a:ea typeface="Courier New" pitchFamily="34" charset="-122"/>
                <a:cs typeface="Courier New" pitchFamily="34" charset="-120"/>
              </a:rPr>
              <a:t>post_text</a:t>
            </a:r>
            <a:endParaRPr lang="en-US" sz="1600" dirty="0"/>
          </a:p>
          <a:p>
            <a:pPr marL="0" indent="0">
              <a:buNone/>
            </a:pPr>
            <a:r>
              <a:rPr lang="en-US" sz="1600" dirty="0">
                <a:solidFill>
                  <a:srgbClr val="1F2937"/>
                </a:solidFill>
                <a:latin typeface="Courier New" pitchFamily="34" charset="0"/>
                <a:ea typeface="Courier New" pitchFamily="34" charset="-122"/>
                <a:cs typeface="Courier New" pitchFamily="34" charset="-120"/>
              </a:rPr>
              <a:t>table</a:t>
            </a:r>
            <a:endParaRPr lang="en-US" sz="1600" dirty="0"/>
          </a:p>
          <a:p>
            <a:pPr marL="0" indent="0">
              <a:buNone/>
            </a:pPr>
            <a:r>
              <a:rPr lang="en-US" sz="1600" dirty="0">
                <a:solidFill>
                  <a:srgbClr val="1F2937"/>
                </a:solidFill>
                <a:latin typeface="Courier New" pitchFamily="34" charset="0"/>
                <a:ea typeface="Courier New" pitchFamily="34" charset="-122"/>
                <a:cs typeface="Courier New" pitchFamily="34" charset="-120"/>
              </a:rPr>
              <a:t>qa.question</a:t>
            </a:r>
            <a:endParaRPr lang="en-US" sz="1600" dirty="0"/>
          </a:p>
          <a:p>
            <a:pPr marL="0" indent="0">
              <a:buNone/>
            </a:pPr>
            <a:r>
              <a:rPr lang="en-US" sz="1600" dirty="0">
                <a:solidFill>
                  <a:srgbClr val="1F2937"/>
                </a:solidFill>
                <a:latin typeface="Courier New" pitchFamily="34" charset="0"/>
                <a:ea typeface="Courier New" pitchFamily="34" charset="-122"/>
                <a:cs typeface="Courier New" pitchFamily="34" charset="-120"/>
              </a:rPr>
              <a:t>qa.answer</a:t>
            </a:r>
            <a:endParaRPr lang="en-US" sz="1600" dirty="0"/>
          </a:p>
          <a:p>
            <a:pPr marL="0" indent="0">
              <a:buNone/>
            </a:pPr>
            <a:r>
              <a:rPr lang="en-US" sz="1600" dirty="0">
                <a:solidFill>
                  <a:srgbClr val="1F2937"/>
                </a:solidFill>
                <a:latin typeface="Courier New" pitchFamily="34" charset="0"/>
                <a:ea typeface="Courier New" pitchFamily="34" charset="-122"/>
                <a:cs typeface="Courier New" pitchFamily="34" charset="-120"/>
              </a:rPr>
              <a:t>qa.exe_ans</a:t>
            </a:r>
            <a:endParaRPr lang="en-US" sz="1600" dirty="0"/>
          </a:p>
          <a:p>
            <a:pPr marL="0" indent="0">
              <a:buNone/>
            </a:pPr>
            <a:r>
              <a:rPr lang="en-US" sz="1600" dirty="0">
                <a:solidFill>
                  <a:srgbClr val="1F2937"/>
                </a:solidFill>
                <a:latin typeface="Courier New" pitchFamily="34" charset="0"/>
                <a:ea typeface="Courier New" pitchFamily="34" charset="-122"/>
                <a:cs typeface="Courier New" pitchFamily="34" charset="-120"/>
              </a:rPr>
              <a:t>qa.program</a:t>
            </a:r>
            <a:endParaRPr lang="en-US" sz="1600" dirty="0"/>
          </a:p>
          <a:p>
            <a:pPr marL="0" indent="0">
              <a:buNone/>
            </a:pPr>
            <a:r>
              <a:rPr lang="en-US" sz="1600" dirty="0">
                <a:solidFill>
                  <a:srgbClr val="1F2937"/>
                </a:solidFill>
                <a:latin typeface="Courier New" pitchFamily="34" charset="0"/>
                <a:ea typeface="Courier New" pitchFamily="34" charset="-122"/>
                <a:cs typeface="Courier New" pitchFamily="34" charset="-120"/>
              </a:rPr>
              <a:t>qa.gold_inds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7F5F1"/>
        </a:solidFill>
        <a:effectLst/>
      </p:bgPr>
    </p:bg>
    <p:spTree>
      <p:nvGrpSpPr>
        <p:cNvPr id="1" name=""/>
        <p:cNvGrpSpPr/>
        <p:nvPr/>
      </p:nvGrpSpPr>
      <p:grpSpPr>
        <a:xfrm>
          <a:off x="0" y="0"/>
          <a:ext cx="0" cy="0"/>
          <a:chOff x="0" y="0"/>
          <a:chExt cx="0" cy="0"/>
        </a:xfrm>
      </p:grpSpPr>
      <p:sp>
        <p:nvSpPr>
          <p:cNvPr id="2" name="Text 0"/>
          <p:cNvSpPr/>
          <p:nvPr/>
        </p:nvSpPr>
        <p:spPr>
          <a:xfrm>
            <a:off x="548640" y="320040"/>
            <a:ext cx="8046720" cy="457200"/>
          </a:xfrm>
          <a:prstGeom prst="rect">
            <a:avLst/>
          </a:prstGeom>
          <a:noFill/>
          <a:ln/>
        </p:spPr>
        <p:txBody>
          <a:bodyPr wrap="square" rtlCol="0" anchor="ctr"/>
          <a:lstStyle/>
          <a:p>
            <a:pPr marL="0" indent="0">
              <a:buNone/>
            </a:pPr>
            <a:r>
              <a:rPr lang="en-US" sz="2400" b="1" dirty="0">
                <a:solidFill>
                  <a:srgbClr val="19324D"/>
                </a:solidFill>
                <a:latin typeface="Aptos Display" pitchFamily="34" charset="0"/>
                <a:ea typeface="Aptos Display" pitchFamily="34" charset="-122"/>
                <a:cs typeface="Aptos Display" pitchFamily="34" charset="-120"/>
              </a:rPr>
              <a:t>Questions Of Interest &amp; Use Case</a:t>
            </a:r>
            <a:endParaRPr lang="en-US" sz="2400" dirty="0"/>
          </a:p>
        </p:txBody>
      </p:sp>
      <p:sp>
        <p:nvSpPr>
          <p:cNvPr id="3" name="Text 1"/>
          <p:cNvSpPr/>
          <p:nvPr/>
        </p:nvSpPr>
        <p:spPr>
          <a:xfrm>
            <a:off x="548640" y="804672"/>
            <a:ext cx="10515600" cy="320040"/>
          </a:xfrm>
          <a:prstGeom prst="rect">
            <a:avLst/>
          </a:prstGeom>
          <a:noFill/>
          <a:ln/>
        </p:spPr>
        <p:txBody>
          <a:bodyPr wrap="square" rtlCol="0" anchor="ctr"/>
          <a:lstStyle/>
          <a:p>
            <a:pPr marL="0" indent="0">
              <a:buNone/>
            </a:pPr>
            <a:r>
              <a:rPr lang="en-US" sz="1050" dirty="0">
                <a:solidFill>
                  <a:srgbClr val="40566B"/>
                </a:solidFill>
                <a:latin typeface="Aptos" pitchFamily="34" charset="0"/>
                <a:ea typeface="Aptos" pitchFamily="34" charset="-122"/>
                <a:cs typeface="Aptos" pitchFamily="34" charset="-120"/>
              </a:rPr>
              <a:t>Aligned with the in-class project expectations</a:t>
            </a:r>
            <a:endParaRPr lang="en-US" sz="1050" dirty="0"/>
          </a:p>
        </p:txBody>
      </p:sp>
      <p:sp>
        <p:nvSpPr>
          <p:cNvPr id="4" name="Shape 2"/>
          <p:cNvSpPr/>
          <p:nvPr/>
        </p:nvSpPr>
        <p:spPr>
          <a:xfrm>
            <a:off x="548640" y="1115568"/>
            <a:ext cx="10515600" cy="0"/>
          </a:xfrm>
          <a:prstGeom prst="line">
            <a:avLst/>
          </a:prstGeom>
          <a:noFill/>
          <a:ln w="12700">
            <a:solidFill>
              <a:srgbClr val="C98A2E"/>
            </a:solidFill>
            <a:prstDash val="solid"/>
          </a:ln>
        </p:spPr>
        <p:txBody>
          <a:bodyPr/>
          <a:lstStyle/>
          <a:p>
            <a:endParaRPr lang="en-US"/>
          </a:p>
        </p:txBody>
      </p:sp>
      <p:sp>
        <p:nvSpPr>
          <p:cNvPr id="5" name="Text 3"/>
          <p:cNvSpPr/>
          <p:nvPr/>
        </p:nvSpPr>
        <p:spPr>
          <a:xfrm>
            <a:off x="731519" y="1417320"/>
            <a:ext cx="7136339" cy="4400676"/>
          </a:xfrm>
          <a:prstGeom prst="rect">
            <a:avLst/>
          </a:prstGeom>
          <a:noFill/>
          <a:ln/>
        </p:spPr>
        <p:txBody>
          <a:bodyPr wrap="square" lIns="762" tIns="762" rIns="762" bIns="762" rtlCol="0" anchor="t"/>
          <a:lstStyle/>
          <a:p>
            <a:pPr marL="152400" indent="-152400">
              <a:buSzPct val="100000"/>
              <a:buChar char="•"/>
            </a:pPr>
            <a:r>
              <a:rPr lang="en-US" sz="1600" dirty="0">
                <a:solidFill>
                  <a:srgbClr val="1F2937"/>
                </a:solidFill>
                <a:latin typeface="Aptos" pitchFamily="34" charset="0"/>
                <a:ea typeface="Aptos" pitchFamily="34" charset="-122"/>
                <a:cs typeface="Aptos" pitchFamily="34" charset="-120"/>
              </a:rPr>
              <a:t>Questions of interest:</a:t>
            </a:r>
            <a:endParaRPr lang="en-US" sz="1600" dirty="0"/>
          </a:p>
          <a:p>
            <a:pPr marL="152400" indent="-152400">
              <a:buSzPct val="100000"/>
              <a:buChar char="•"/>
            </a:pPr>
            <a:r>
              <a:rPr lang="en-US" sz="1600" dirty="0">
                <a:solidFill>
                  <a:srgbClr val="1F2937"/>
                </a:solidFill>
                <a:latin typeface="Aptos" pitchFamily="34" charset="0"/>
                <a:ea typeface="Aptos" pitchFamily="34" charset="-122"/>
                <a:cs typeface="Aptos" pitchFamily="34" charset="-120"/>
              </a:rPr>
              <a:t>Can a baseline retriever find the right text or table evidence for a financial question?</a:t>
            </a:r>
            <a:endParaRPr lang="en-US" sz="1600" dirty="0"/>
          </a:p>
          <a:p>
            <a:pPr marL="152400" indent="-152400">
              <a:buSzPct val="100000"/>
              <a:buChar char="•"/>
            </a:pPr>
            <a:r>
              <a:rPr lang="en-US" sz="1600" dirty="0">
                <a:solidFill>
                  <a:srgbClr val="1F2937"/>
                </a:solidFill>
                <a:latin typeface="Aptos" pitchFamily="34" charset="0"/>
                <a:ea typeface="Aptos" pitchFamily="34" charset="-122"/>
                <a:cs typeface="Aptos" pitchFamily="34" charset="-120"/>
              </a:rPr>
              <a:t>Does using table structure help more than using text alone?</a:t>
            </a:r>
            <a:endParaRPr lang="en-US" sz="1600" dirty="0"/>
          </a:p>
          <a:p>
            <a:pPr marL="152400" indent="-152400">
              <a:buSzPct val="100000"/>
              <a:buChar char="•"/>
            </a:pPr>
            <a:r>
              <a:rPr lang="en-US" sz="1600" dirty="0">
                <a:solidFill>
                  <a:srgbClr val="1F2937"/>
                </a:solidFill>
                <a:latin typeface="Aptos" pitchFamily="34" charset="0"/>
                <a:ea typeface="Aptos" pitchFamily="34" charset="-122"/>
                <a:cs typeface="Aptos" pitchFamily="34" charset="-120"/>
              </a:rPr>
              <a:t>Can I later label answers as supported, weakly supported, or unsupported based on the retrieved evidence?</a:t>
            </a:r>
          </a:p>
          <a:p>
            <a:pPr marL="152400" indent="-152400">
              <a:buSzPct val="100000"/>
              <a:buChar char="•"/>
            </a:pPr>
            <a:endParaRPr lang="en-US" sz="1600" dirty="0"/>
          </a:p>
          <a:p>
            <a:pPr marL="152400" indent="-152400">
              <a:buSzPct val="100000"/>
              <a:buChar char="•"/>
            </a:pPr>
            <a:r>
              <a:rPr lang="en-US" sz="1600" dirty="0">
                <a:solidFill>
                  <a:srgbClr val="1F2937"/>
                </a:solidFill>
                <a:latin typeface="Aptos" pitchFamily="34" charset="0"/>
                <a:ea typeface="Aptos" pitchFamily="34" charset="-122"/>
                <a:cs typeface="Aptos" pitchFamily="34" charset="-120"/>
              </a:rPr>
              <a:t>Real-world use case: faster evidence gathering for finance or audit-style review tasks.</a:t>
            </a:r>
            <a:endParaRPr lang="en-US" sz="1600" dirty="0"/>
          </a:p>
        </p:txBody>
      </p:sp>
      <p:sp>
        <p:nvSpPr>
          <p:cNvPr id="6" name="Text 4"/>
          <p:cNvSpPr/>
          <p:nvPr/>
        </p:nvSpPr>
        <p:spPr>
          <a:xfrm>
            <a:off x="6812280" y="1508760"/>
            <a:ext cx="2560320" cy="274320"/>
          </a:xfrm>
          <a:prstGeom prst="rect">
            <a:avLst/>
          </a:prstGeom>
          <a:noFill/>
          <a:ln/>
        </p:spPr>
        <p:txBody>
          <a:bodyPr wrap="square" rtlCol="0" anchor="ctr"/>
          <a:lstStyle/>
          <a:p>
            <a:pPr marL="0" indent="0">
              <a:buNone/>
            </a:pPr>
            <a:endParaRPr lang="en-US" sz="1700" dirty="0"/>
          </a:p>
        </p:txBody>
      </p:sp>
      <p:sp>
        <p:nvSpPr>
          <p:cNvPr id="7" name="Text 5"/>
          <p:cNvSpPr/>
          <p:nvPr/>
        </p:nvSpPr>
        <p:spPr>
          <a:xfrm>
            <a:off x="6812280" y="1508760"/>
            <a:ext cx="4251960" cy="2423160"/>
          </a:xfrm>
          <a:prstGeom prst="rect">
            <a:avLst/>
          </a:prstGeom>
          <a:noFill/>
          <a:ln/>
        </p:spPr>
        <p:txBody>
          <a:bodyPr wrap="square" rtlCol="0" anchor="ctr"/>
          <a:lstStyle/>
          <a:p>
            <a:pPr marL="0" indent="0">
              <a:buNone/>
            </a:pP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8046720" cy="457200"/>
          </a:xfrm>
          <a:prstGeom prst="rect">
            <a:avLst/>
          </a:prstGeom>
          <a:noFill/>
          <a:ln/>
        </p:spPr>
        <p:txBody>
          <a:bodyPr wrap="square" rtlCol="0" anchor="ctr"/>
          <a:lstStyle/>
          <a:p>
            <a:pPr marL="0" indent="0">
              <a:buNone/>
            </a:pPr>
            <a:r>
              <a:rPr lang="en-US" sz="2400" b="1" dirty="0">
                <a:solidFill>
                  <a:srgbClr val="19324D"/>
                </a:solidFill>
                <a:latin typeface="Aptos Display" pitchFamily="34" charset="0"/>
                <a:ea typeface="Aptos Display" pitchFamily="34" charset="-122"/>
                <a:cs typeface="Aptos Display" pitchFamily="34" charset="-120"/>
              </a:rPr>
              <a:t>What Is Happening In The Code?</a:t>
            </a:r>
            <a:endParaRPr lang="en-US" sz="2400" dirty="0"/>
          </a:p>
        </p:txBody>
      </p:sp>
      <p:sp>
        <p:nvSpPr>
          <p:cNvPr id="3" name="Text 1"/>
          <p:cNvSpPr/>
          <p:nvPr/>
        </p:nvSpPr>
        <p:spPr>
          <a:xfrm>
            <a:off x="548640" y="804672"/>
            <a:ext cx="10515600" cy="320040"/>
          </a:xfrm>
          <a:prstGeom prst="rect">
            <a:avLst/>
          </a:prstGeom>
          <a:noFill/>
          <a:ln/>
        </p:spPr>
        <p:txBody>
          <a:bodyPr wrap="square" rtlCol="0" anchor="ctr"/>
          <a:lstStyle/>
          <a:p>
            <a:pPr marL="0" indent="0">
              <a:buNone/>
            </a:pPr>
            <a:r>
              <a:rPr lang="en-US" sz="1050" dirty="0">
                <a:solidFill>
                  <a:srgbClr val="40566B"/>
                </a:solidFill>
                <a:latin typeface="Aptos" pitchFamily="34" charset="0"/>
                <a:ea typeface="Aptos" pitchFamily="34" charset="-122"/>
                <a:cs typeface="Aptos" pitchFamily="34" charset="-120"/>
              </a:rPr>
              <a:t>Current script logic and baseline plan</a:t>
            </a:r>
            <a:endParaRPr lang="en-US" sz="1050" dirty="0"/>
          </a:p>
        </p:txBody>
      </p:sp>
      <p:sp>
        <p:nvSpPr>
          <p:cNvPr id="4" name="Shape 2"/>
          <p:cNvSpPr/>
          <p:nvPr/>
        </p:nvSpPr>
        <p:spPr>
          <a:xfrm>
            <a:off x="548640" y="1115568"/>
            <a:ext cx="10515600" cy="0"/>
          </a:xfrm>
          <a:prstGeom prst="line">
            <a:avLst/>
          </a:prstGeom>
          <a:noFill/>
          <a:ln w="12700">
            <a:solidFill>
              <a:srgbClr val="C98A2E"/>
            </a:solidFill>
            <a:prstDash val="solid"/>
          </a:ln>
        </p:spPr>
        <p:txBody>
          <a:bodyPr/>
          <a:lstStyle/>
          <a:p>
            <a:endParaRPr lang="en-US"/>
          </a:p>
        </p:txBody>
      </p:sp>
      <p:sp>
        <p:nvSpPr>
          <p:cNvPr id="5" name="Shape 3"/>
          <p:cNvSpPr/>
          <p:nvPr/>
        </p:nvSpPr>
        <p:spPr>
          <a:xfrm>
            <a:off x="731520" y="1554480"/>
            <a:ext cx="5212080" cy="4206240"/>
          </a:xfrm>
          <a:prstGeom prst="roundRect">
            <a:avLst/>
          </a:prstGeom>
          <a:solidFill>
            <a:srgbClr val="E8EEF3"/>
          </a:solidFill>
          <a:ln w="12700">
            <a:solidFill>
              <a:srgbClr val="E8EEF3"/>
            </a:solidFill>
            <a:prstDash val="solid"/>
          </a:ln>
        </p:spPr>
        <p:txBody>
          <a:bodyPr/>
          <a:lstStyle/>
          <a:p>
            <a:endParaRPr lang="en-US"/>
          </a:p>
        </p:txBody>
      </p:sp>
      <p:sp>
        <p:nvSpPr>
          <p:cNvPr id="6" name="Text 4"/>
          <p:cNvSpPr/>
          <p:nvPr/>
        </p:nvSpPr>
        <p:spPr>
          <a:xfrm>
            <a:off x="1005840" y="1783080"/>
            <a:ext cx="3200400" cy="274320"/>
          </a:xfrm>
          <a:prstGeom prst="rect">
            <a:avLst/>
          </a:prstGeom>
          <a:noFill/>
          <a:ln/>
        </p:spPr>
        <p:txBody>
          <a:bodyPr wrap="square" rtlCol="0" anchor="ctr"/>
          <a:lstStyle/>
          <a:p>
            <a:pPr marL="0" indent="0">
              <a:buNone/>
            </a:pPr>
            <a:r>
              <a:rPr lang="en-US" sz="1700" b="1" dirty="0">
                <a:solidFill>
                  <a:srgbClr val="19324D"/>
                </a:solidFill>
              </a:rPr>
              <a:t>Current script: inspect_finqa.py</a:t>
            </a:r>
            <a:endParaRPr lang="en-US" sz="1700" dirty="0"/>
          </a:p>
        </p:txBody>
      </p:sp>
      <p:sp>
        <p:nvSpPr>
          <p:cNvPr id="7" name="Text 5"/>
          <p:cNvSpPr/>
          <p:nvPr/>
        </p:nvSpPr>
        <p:spPr>
          <a:xfrm>
            <a:off x="960120" y="2148840"/>
            <a:ext cx="4572000" cy="3200400"/>
          </a:xfrm>
          <a:prstGeom prst="rect">
            <a:avLst/>
          </a:prstGeom>
          <a:noFill/>
          <a:ln/>
        </p:spPr>
        <p:txBody>
          <a:bodyPr wrap="square" lIns="762" tIns="762" rIns="762" bIns="762" rtlCol="0" anchor="t"/>
          <a:lstStyle/>
          <a:p>
            <a:pPr marL="152400" indent="-152400">
              <a:buSzPct val="100000"/>
              <a:buChar char="•"/>
            </a:pPr>
            <a:r>
              <a:rPr lang="en-US" sz="1600" dirty="0">
                <a:solidFill>
                  <a:srgbClr val="1F2937"/>
                </a:solidFill>
                <a:latin typeface="Aptos" pitchFamily="34" charset="0"/>
                <a:ea typeface="Aptos" pitchFamily="34" charset="-122"/>
                <a:cs typeface="Aptos" pitchFamily="34" charset="-120"/>
              </a:rPr>
              <a:t>load_split(name): opens train/dev/test JSON files from the cloned FinQA repo</a:t>
            </a:r>
            <a:endParaRPr lang="en-US" sz="1600" dirty="0"/>
          </a:p>
          <a:p>
            <a:pPr marL="152400" indent="-152400">
              <a:buSzPct val="100000"/>
              <a:buChar char="•"/>
            </a:pPr>
            <a:r>
              <a:rPr lang="en-US" sz="1600" dirty="0">
                <a:solidFill>
                  <a:srgbClr val="1F2937"/>
                </a:solidFill>
                <a:latin typeface="Aptos" pitchFamily="34" charset="0"/>
                <a:ea typeface="Aptos" pitchFamily="34" charset="-122"/>
                <a:cs typeface="Aptos" pitchFamily="34" charset="-120"/>
              </a:rPr>
              <a:t>flatten_example(row): keeps only the most important fields for a quick preview table</a:t>
            </a:r>
            <a:endParaRPr lang="en-US" sz="1600" dirty="0"/>
          </a:p>
          <a:p>
            <a:pPr marL="152400" indent="-152400">
              <a:buSzPct val="100000"/>
              <a:buChar char="•"/>
            </a:pPr>
            <a:r>
              <a:rPr lang="en-US" sz="1600" dirty="0">
                <a:solidFill>
                  <a:srgbClr val="1F2937"/>
                </a:solidFill>
                <a:latin typeface="Aptos" pitchFamily="34" charset="0"/>
                <a:ea typeface="Aptos" pitchFamily="34" charset="-122"/>
                <a:cs typeface="Aptos" pitchFamily="34" charset="-120"/>
              </a:rPr>
              <a:t>main(): prints dataset sizes, shows one sample question, answer, evidence, and table rows</a:t>
            </a:r>
            <a:endParaRPr lang="en-US" sz="1600" dirty="0"/>
          </a:p>
          <a:p>
            <a:pPr marL="152400" indent="-152400">
              <a:buSzPct val="100000"/>
              <a:buChar char="•"/>
            </a:pPr>
            <a:r>
              <a:rPr lang="en-US" sz="1600" dirty="0">
                <a:solidFill>
                  <a:srgbClr val="1F2937"/>
                </a:solidFill>
                <a:latin typeface="Aptos" pitchFamily="34" charset="0"/>
                <a:ea typeface="Aptos" pitchFamily="34" charset="-122"/>
                <a:cs typeface="Aptos" pitchFamily="34" charset="-120"/>
              </a:rPr>
              <a:t>writes a small CSV preview so the dataset is easier to inspect in tabular form</a:t>
            </a:r>
            <a:endParaRPr lang="en-US" sz="1600" dirty="0"/>
          </a:p>
        </p:txBody>
      </p:sp>
      <p:sp>
        <p:nvSpPr>
          <p:cNvPr id="8" name="Shape 6"/>
          <p:cNvSpPr/>
          <p:nvPr/>
        </p:nvSpPr>
        <p:spPr>
          <a:xfrm>
            <a:off x="6400800" y="1554480"/>
            <a:ext cx="4983480" cy="4206240"/>
          </a:xfrm>
          <a:prstGeom prst="roundRect">
            <a:avLst/>
          </a:prstGeom>
          <a:solidFill>
            <a:srgbClr val="19324D"/>
          </a:solidFill>
          <a:ln w="12700">
            <a:solidFill>
              <a:srgbClr val="19324D"/>
            </a:solidFill>
            <a:prstDash val="solid"/>
          </a:ln>
        </p:spPr>
        <p:txBody>
          <a:bodyPr/>
          <a:lstStyle/>
          <a:p>
            <a:endParaRPr lang="en-US"/>
          </a:p>
        </p:txBody>
      </p:sp>
      <p:sp>
        <p:nvSpPr>
          <p:cNvPr id="9" name="Text 7"/>
          <p:cNvSpPr/>
          <p:nvPr/>
        </p:nvSpPr>
        <p:spPr>
          <a:xfrm>
            <a:off x="6675120" y="1783080"/>
            <a:ext cx="2103120" cy="274320"/>
          </a:xfrm>
          <a:prstGeom prst="rect">
            <a:avLst/>
          </a:prstGeom>
          <a:noFill/>
          <a:ln/>
        </p:spPr>
        <p:txBody>
          <a:bodyPr wrap="square" rtlCol="0" anchor="ctr"/>
          <a:lstStyle/>
          <a:p>
            <a:pPr marL="0" indent="0">
              <a:buNone/>
            </a:pPr>
            <a:r>
              <a:rPr lang="en-US" sz="1700" b="1" dirty="0">
                <a:solidFill>
                  <a:srgbClr val="FFFFFF"/>
                </a:solidFill>
              </a:rPr>
              <a:t>Next baseline</a:t>
            </a:r>
            <a:endParaRPr lang="en-US" sz="1700" dirty="0"/>
          </a:p>
        </p:txBody>
      </p:sp>
      <p:sp>
        <p:nvSpPr>
          <p:cNvPr id="10" name="Text 8"/>
          <p:cNvSpPr/>
          <p:nvPr/>
        </p:nvSpPr>
        <p:spPr>
          <a:xfrm>
            <a:off x="6675120" y="2148840"/>
            <a:ext cx="4297680" cy="2926080"/>
          </a:xfrm>
          <a:prstGeom prst="rect">
            <a:avLst/>
          </a:prstGeom>
          <a:noFill/>
          <a:ln/>
        </p:spPr>
        <p:txBody>
          <a:bodyPr wrap="square" rtlCol="0" anchor="ctr"/>
          <a:lstStyle/>
          <a:p>
            <a:pPr marL="0" indent="0">
              <a:buNone/>
            </a:pPr>
            <a:r>
              <a:rPr lang="en-US" sz="1600" dirty="0">
                <a:solidFill>
                  <a:srgbClr val="FFFFFF"/>
                </a:solidFill>
              </a:rPr>
              <a:t>1. Turn text blocks and table rows into searchable units</a:t>
            </a:r>
            <a:endParaRPr lang="en-US" sz="1600" dirty="0"/>
          </a:p>
          <a:p>
            <a:pPr marL="0" indent="0">
              <a:buNone/>
            </a:pPr>
            <a:r>
              <a:rPr lang="en-US" sz="1600" dirty="0">
                <a:solidFill>
                  <a:srgbClr val="FFFFFF"/>
                </a:solidFill>
              </a:rPr>
              <a:t>2. Embed them with sentence-transformers/all-MiniLM-L6-v2</a:t>
            </a:r>
            <a:endParaRPr lang="en-US" sz="1600" dirty="0"/>
          </a:p>
          <a:p>
            <a:pPr marL="0" indent="0">
              <a:buNone/>
            </a:pPr>
            <a:r>
              <a:rPr lang="en-US" sz="1600" dirty="0">
                <a:solidFill>
                  <a:srgbClr val="FFFFFF"/>
                </a:solidFill>
              </a:rPr>
              <a:t>3. Rank the most relevant evidence for each question</a:t>
            </a:r>
            <a:endParaRPr lang="en-US" sz="1600" dirty="0"/>
          </a:p>
          <a:p>
            <a:pPr marL="0" indent="0">
              <a:buNone/>
            </a:pPr>
            <a:r>
              <a:rPr lang="en-US" sz="1600" dirty="0">
                <a:solidFill>
                  <a:srgbClr val="FFFFFF"/>
                </a:solidFill>
              </a:rPr>
              <a:t>4. Later add answer generation and support labels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1132</Words>
  <Application>Microsoft Macintosh PowerPoint</Application>
  <PresentationFormat>Widescreen</PresentationFormat>
  <Paragraphs>64</Paragraphs>
  <Slides>5</Slides>
  <Notes>5</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Aptos</vt:lpstr>
      <vt:lpstr>Aptos Display</vt:lpstr>
      <vt:lpstr>Arial</vt:lpstr>
      <vt:lpstr>Courier New</vt:lpstr>
      <vt:lpstr>Office Theme</vt:lpstr>
      <vt:lpstr>PowerPoint Presentation</vt:lpstr>
      <vt:lpstr>PowerPoint Presentation</vt:lpstr>
      <vt:lpstr>PowerPoint Presentation</vt:lpstr>
      <vt:lpstr>PowerPoint Presentation</vt:lpstr>
      <vt:lpstr>PowerPoint Presentation</vt:lpstr>
    </vt:vector>
  </TitlesOfParts>
  <Company>NC State FDS-Emerge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Auditable Finance QA with FinQA</dc:title>
  <dc:subject>FinQA project intro</dc:subject>
  <dc:creator>OpenAI Codex</dc:creator>
  <cp:lastModifiedBy>Lasya Banka</cp:lastModifiedBy>
  <cp:revision>2</cp:revision>
  <dcterms:created xsi:type="dcterms:W3CDTF">2026-05-19T19:49:50Z</dcterms:created>
  <dcterms:modified xsi:type="dcterms:W3CDTF">2026-05-19T19:55:30Z</dcterms:modified>
</cp:coreProperties>
</file>