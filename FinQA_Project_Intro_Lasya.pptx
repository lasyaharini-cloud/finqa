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This is a short introduction to my project idea. I am working on a financial question-answering project using the FinQA dataset. My focus is on retrieval-augmented generation, or RAG, with an evidence and audit perspective.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I chose FinQA because it is fully public and finance-specific. It gives me both text and table data, which makes it a strong dataset for this problem.
For the technical setup, I am currently not using a paid external API. The main framework I am planning to use is Haystack for retrieval, and the embedding model is sentence-transformers/all-MiniLM-L6-v2. So this is an open-source and local pipeline at this stage.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This slide explains the core idea. RAG stands for Retrieval-Augmented Generation. Instead of making the model answer from memory alone, the system first retrieves relevant evidence from the source material.
My project is a finance version of that idea. In simple terms, someone asks a question about a financial document, the system searches the document, finds the most relevant parts, then answers using those parts, and later we can check whether the answer is actually supported by the evidence.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These are the main questions I want the project to answer. The first stage is retrieval: can a simple baseline find the correct evidence? Then I want to study whether tables are especially important in finance QA, whether the retrieved evidence matches the dataset’s gold evidence, and whether I can later support-check generated answers.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This slide shows two things. First, it includes an actual visualization of the FinQA split sizes: train, dev, and test. This gives a quick sense of dataset scale and class balance at the split level.
Second, it shows the project flow. I start from FinQA, break each example into searchable units, embed and retrieve evidence, later generate an answer, and then ideally check whether the answer is supported before producing the final output.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Thank the audience and invite feedback, especially on scope, baseline design, and what would make the project most useful or realistic for the summer.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5F1"/>
          </a:solidFill>
          <a:ln w="12700">
            <a:solidFill>
              <a:srgbClr val="F7F5F1"/>
            </a:solidFill>
            <a:prstDash val="solid"/>
          </a:ln>
        </p:spPr>
      </p:sp>
      <p:sp>
        <p:nvSpPr>
          <p:cNvPr id="3" name="Shape 1"/>
          <p:cNvSpPr/>
          <p:nvPr/>
        </p:nvSpPr>
        <p:spPr>
          <a:xfrm>
            <a:off x="640080" y="1097280"/>
            <a:ext cx="228600" cy="3840480"/>
          </a:xfrm>
          <a:prstGeom prst="rect">
            <a:avLst/>
          </a:prstGeom>
          <a:solidFill>
            <a:srgbClr val="0E7490"/>
          </a:solidFill>
          <a:ln w="12700">
            <a:solidFill>
              <a:srgbClr val="0E7490"/>
            </a:solidFill>
            <a:prstDash val="solid"/>
          </a:ln>
        </p:spPr>
      </p:sp>
      <p:sp>
        <p:nvSpPr>
          <p:cNvPr id="4" name="Text 2"/>
          <p:cNvSpPr/>
          <p:nvPr/>
        </p:nvSpPr>
        <p:spPr>
          <a:xfrm>
            <a:off x="1005840" y="1188720"/>
            <a:ext cx="7132320" cy="1097280"/>
          </a:xfrm>
          <a:prstGeom prst="rect">
            <a:avLst/>
          </a:prstGeom>
          <a:noFill/>
          <a:ln/>
        </p:spPr>
        <p:txBody>
          <a:bodyPr wrap="square" rtlCol="0" anchor="ctr"/>
          <a:lstStyle/>
          <a:p>
            <a:pPr indent="0" marL="0">
              <a:buNone/>
            </a:pPr>
            <a:r>
              <a:rPr lang="en-US" sz="2900" b="1" dirty="0">
                <a:solidFill>
                  <a:srgbClr val="19324D"/>
                </a:solidFill>
                <a:latin typeface="Aptos Display" pitchFamily="34" charset="0"/>
                <a:ea typeface="Aptos Display" pitchFamily="34" charset="-122"/>
                <a:cs typeface="Aptos Display" pitchFamily="34" charset="-120"/>
              </a:rPr>
              <a:t>Financial Question Answering</a:t>
            </a:r>
            <a:endParaRPr lang="en-US" sz="2900" dirty="0"/>
          </a:p>
          <a:p>
            <a:pPr indent="0" marL="0">
              <a:buNone/>
            </a:pPr>
            <a:r>
              <a:rPr lang="en-US" sz="2900" b="1" dirty="0">
                <a:solidFill>
                  <a:srgbClr val="19324D"/>
                </a:solidFill>
                <a:latin typeface="Aptos Display" pitchFamily="34" charset="0"/>
                <a:ea typeface="Aptos Display" pitchFamily="34" charset="-122"/>
                <a:cs typeface="Aptos Display" pitchFamily="34" charset="-120"/>
              </a:rPr>
              <a:t>Using FinQA</a:t>
            </a:r>
            <a:endParaRPr lang="en-US" sz="2900" dirty="0"/>
          </a:p>
        </p:txBody>
      </p:sp>
      <p:sp>
        <p:nvSpPr>
          <p:cNvPr id="5" name="Text 3"/>
          <p:cNvSpPr/>
          <p:nvPr/>
        </p:nvSpPr>
        <p:spPr>
          <a:xfrm>
            <a:off x="1005840" y="2468880"/>
            <a:ext cx="3200400" cy="274320"/>
          </a:xfrm>
          <a:prstGeom prst="rect">
            <a:avLst/>
          </a:prstGeom>
          <a:noFill/>
          <a:ln/>
        </p:spPr>
        <p:txBody>
          <a:bodyPr wrap="square" rtlCol="0" anchor="ctr"/>
          <a:lstStyle/>
          <a:p>
            <a:pPr indent="0" marL="0">
              <a:buNone/>
            </a:pPr>
            <a:r>
              <a:rPr lang="en-US" sz="1400" b="1" dirty="0">
                <a:solidFill>
                  <a:srgbClr val="C98A2E"/>
                </a:solidFill>
              </a:rPr>
              <a:t>Project update</a:t>
            </a:r>
            <a:endParaRPr lang="en-US" sz="1400" dirty="0"/>
          </a:p>
        </p:txBody>
      </p:sp>
      <p:sp>
        <p:nvSpPr>
          <p:cNvPr id="6" name="Text 4"/>
          <p:cNvSpPr/>
          <p:nvPr/>
        </p:nvSpPr>
        <p:spPr>
          <a:xfrm>
            <a:off x="1005840" y="2880360"/>
            <a:ext cx="4389120" cy="731520"/>
          </a:xfrm>
          <a:prstGeom prst="rect">
            <a:avLst/>
          </a:prstGeom>
          <a:noFill/>
          <a:ln/>
        </p:spPr>
        <p:txBody>
          <a:bodyPr wrap="square" rtlCol="0" anchor="ctr"/>
          <a:lstStyle/>
          <a:p>
            <a:pPr indent="0" marL="0">
              <a:buNone/>
            </a:pPr>
            <a:r>
              <a:rPr lang="en-US" sz="1800" dirty="0">
                <a:solidFill>
                  <a:srgbClr val="1F2937"/>
                </a:solidFill>
              </a:rPr>
              <a:t>Lasya Banka</a:t>
            </a:r>
            <a:endParaRPr lang="en-US" sz="1800" dirty="0"/>
          </a:p>
          <a:p>
            <a:pPr indent="0" marL="0">
              <a:buNone/>
            </a:pPr>
            <a:r>
              <a:rPr lang="en-US" sz="1800" dirty="0">
                <a:solidFill>
                  <a:srgbClr val="1F2937"/>
                </a:solidFill>
              </a:rPr>
              <a:t>FDS-Emerge Summer Program</a:t>
            </a:r>
            <a:endParaRPr lang="en-US" sz="1800" dirty="0"/>
          </a:p>
        </p:txBody>
      </p:sp>
      <p:sp>
        <p:nvSpPr>
          <p:cNvPr id="7" name="Text 5"/>
          <p:cNvSpPr/>
          <p:nvPr/>
        </p:nvSpPr>
        <p:spPr>
          <a:xfrm>
            <a:off x="1005840" y="3886200"/>
            <a:ext cx="5669280" cy="640080"/>
          </a:xfrm>
          <a:prstGeom prst="rect">
            <a:avLst/>
          </a:prstGeom>
          <a:noFill/>
          <a:ln/>
        </p:spPr>
        <p:txBody>
          <a:bodyPr wrap="square" rtlCol="0" anchor="ctr"/>
          <a:lstStyle/>
          <a:p>
            <a:pPr indent="0" marL="0">
              <a:buNone/>
            </a:pPr>
            <a:r>
              <a:rPr lang="en-US" sz="1800" dirty="0">
                <a:solidFill>
                  <a:srgbClr val="40566B"/>
                </a:solidFill>
              </a:rPr>
              <a:t>Focus: retrieval-augmented finance QA with an evidence and audit perspective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686800" cy="457200"/>
          </a:xfrm>
          <a:prstGeom prst="rect">
            <a:avLst/>
          </a:prstGeom>
          <a:noFill/>
          <a:ln/>
        </p:spPr>
        <p:txBody>
          <a:bodyPr wrap="square" rtlCol="0" anchor="ctr"/>
          <a:lstStyle/>
          <a:p>
            <a:pPr indent="0" marL="0">
              <a:buNone/>
            </a:pPr>
            <a:r>
              <a:rPr lang="en-US" sz="2400" b="1" dirty="0">
                <a:solidFill>
                  <a:srgbClr val="19324D"/>
                </a:solidFill>
                <a:latin typeface="Aptos Display" pitchFamily="34" charset="0"/>
                <a:ea typeface="Aptos Display" pitchFamily="34" charset="-122"/>
                <a:cs typeface="Aptos Display" pitchFamily="34" charset="-120"/>
              </a:rPr>
              <a:t>Dataset, API, And Framework Details</a:t>
            </a:r>
            <a:endParaRPr lang="en-US" sz="2400" dirty="0"/>
          </a:p>
        </p:txBody>
      </p:sp>
      <p:sp>
        <p:nvSpPr>
          <p:cNvPr id="3" name="Shape 1"/>
          <p:cNvSpPr/>
          <p:nvPr/>
        </p:nvSpPr>
        <p:spPr>
          <a:xfrm>
            <a:off x="548640" y="1115568"/>
            <a:ext cx="10515600" cy="0"/>
          </a:xfrm>
          <a:prstGeom prst="line">
            <a:avLst/>
          </a:prstGeom>
          <a:noFill/>
          <a:ln w="12700">
            <a:solidFill>
              <a:srgbClr val="C98A2E"/>
            </a:solidFill>
            <a:prstDash val="solid"/>
          </a:ln>
        </p:spPr>
      </p:sp>
      <p:sp>
        <p:nvSpPr>
          <p:cNvPr id="4" name="Text 2"/>
          <p:cNvSpPr/>
          <p:nvPr/>
        </p:nvSpPr>
        <p:spPr>
          <a:xfrm>
            <a:off x="731520" y="1417320"/>
            <a:ext cx="5577840" cy="4389120"/>
          </a:xfrm>
          <a:prstGeom prst="rect">
            <a:avLst/>
          </a:prstGeom>
          <a:noFill/>
          <a:ln/>
        </p:spPr>
        <p:txBody>
          <a:bodyPr wrap="square" lIns="762" tIns="762" rIns="762" bIns="762" rtlCol="0" anchor="t"/>
          <a:lstStyle/>
          <a:p>
            <a:pPr marL="152400" indent="-152400">
              <a:buSzPct val="100000"/>
              <a:buChar char="•"/>
            </a:pPr>
            <a:r>
              <a:rPr lang="en-US" sz="1600" dirty="0">
                <a:solidFill>
                  <a:srgbClr val="1F2937"/>
                </a:solidFill>
                <a:latin typeface="Aptos" pitchFamily="34" charset="0"/>
                <a:ea typeface="Aptos" pitchFamily="34" charset="-122"/>
                <a:cs typeface="Aptos" pitchFamily="34" charset="-120"/>
              </a:rPr>
              <a:t>Dataset chosen: FinQA</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Source: official GitHub repository and associated paper</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Public splits available locally: Train 6,251 | Dev 883 | Test 1,147</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Each example includes text before the table, the financial table, text after the table, the question, the answer, and evidence fields.</a:t>
            </a:r>
            <a:endParaRPr lang="en-US" sz="1600" dirty="0"/>
          </a:p>
        </p:txBody>
      </p:sp>
      <p:sp>
        <p:nvSpPr>
          <p:cNvPr id="5" name="Shape 3"/>
          <p:cNvSpPr/>
          <p:nvPr/>
        </p:nvSpPr>
        <p:spPr>
          <a:xfrm>
            <a:off x="6629400" y="1463040"/>
            <a:ext cx="4572000" cy="4389120"/>
          </a:xfrm>
          <a:prstGeom prst="roundRect">
            <a:avLst/>
          </a:prstGeom>
          <a:solidFill>
            <a:srgbClr val="E8EEF3"/>
          </a:solidFill>
          <a:ln w="12700">
            <a:solidFill>
              <a:srgbClr val="E8EEF3"/>
            </a:solidFill>
            <a:prstDash val="solid"/>
          </a:ln>
        </p:spPr>
      </p:sp>
      <p:sp>
        <p:nvSpPr>
          <p:cNvPr id="6" name="Text 4"/>
          <p:cNvSpPr/>
          <p:nvPr/>
        </p:nvSpPr>
        <p:spPr>
          <a:xfrm>
            <a:off x="6903720" y="1737360"/>
            <a:ext cx="2560320" cy="274320"/>
          </a:xfrm>
          <a:prstGeom prst="rect">
            <a:avLst/>
          </a:prstGeom>
          <a:noFill/>
          <a:ln/>
        </p:spPr>
        <p:txBody>
          <a:bodyPr wrap="square" rtlCol="0" anchor="ctr"/>
          <a:lstStyle/>
          <a:p>
            <a:pPr indent="0" marL="0">
              <a:buNone/>
            </a:pPr>
            <a:r>
              <a:rPr lang="en-US" sz="1800" b="1" dirty="0">
                <a:solidFill>
                  <a:srgbClr val="19324D"/>
                </a:solidFill>
              </a:rPr>
              <a:t>Technical stack</a:t>
            </a:r>
            <a:endParaRPr lang="en-US" sz="1800" dirty="0"/>
          </a:p>
        </p:txBody>
      </p:sp>
      <p:sp>
        <p:nvSpPr>
          <p:cNvPr id="7" name="Text 5"/>
          <p:cNvSpPr/>
          <p:nvPr/>
        </p:nvSpPr>
        <p:spPr>
          <a:xfrm>
            <a:off x="6903720" y="2148840"/>
            <a:ext cx="3794760" cy="3200400"/>
          </a:xfrm>
          <a:prstGeom prst="rect">
            <a:avLst/>
          </a:prstGeom>
          <a:noFill/>
          <a:ln/>
        </p:spPr>
        <p:txBody>
          <a:bodyPr wrap="square" rtlCol="0" anchor="ctr"/>
          <a:lstStyle/>
          <a:p>
            <a:pPr indent="0" marL="0">
              <a:buNone/>
            </a:pPr>
            <a:r>
              <a:rPr lang="en-US" sz="1600" dirty="0">
                <a:solidFill>
                  <a:srgbClr val="1F2937"/>
                </a:solidFill>
              </a:rPr>
              <a:t>API used right now:</a:t>
            </a:r>
            <a:endParaRPr lang="en-US" sz="1600" dirty="0"/>
          </a:p>
          <a:p>
            <a:pPr indent="0" marL="0">
              <a:buNone/>
            </a:pPr>
            <a:r>
              <a:rPr lang="en-US" sz="1600" dirty="0">
                <a:solidFill>
                  <a:srgbClr val="1F2937"/>
                </a:solidFill>
              </a:rPr>
              <a:t>No paid external API currently</a:t>
            </a:r>
            <a:endParaRPr lang="en-US" sz="1600" dirty="0"/>
          </a:p>
          <a:p>
            <a:pPr indent="0" marL="0">
              <a:buNone/>
            </a:pPr>
            <a:endParaRPr lang="en-US" sz="1600" dirty="0"/>
          </a:p>
          <a:p>
            <a:pPr indent="0" marL="0">
              <a:buNone/>
            </a:pPr>
            <a:r>
              <a:rPr lang="en-US" sz="1600" dirty="0">
                <a:solidFill>
                  <a:srgbClr val="1F2937"/>
                </a:solidFill>
              </a:rPr>
              <a:t>Framework:</a:t>
            </a:r>
            <a:endParaRPr lang="en-US" sz="1600" dirty="0"/>
          </a:p>
          <a:p>
            <a:pPr indent="0" marL="0">
              <a:buNone/>
            </a:pPr>
            <a:r>
              <a:rPr lang="en-US" sz="1600" dirty="0">
                <a:solidFill>
                  <a:srgbClr val="1F2937"/>
                </a:solidFill>
              </a:rPr>
              <a:t>Haystack</a:t>
            </a:r>
            <a:endParaRPr lang="en-US" sz="1600" dirty="0"/>
          </a:p>
          <a:p>
            <a:pPr indent="0" marL="0">
              <a:buNone/>
            </a:pPr>
            <a:endParaRPr lang="en-US" sz="1600" dirty="0"/>
          </a:p>
          <a:p>
            <a:pPr indent="0" marL="0">
              <a:buNone/>
            </a:pPr>
            <a:r>
              <a:rPr lang="en-US" sz="1600" dirty="0">
                <a:solidFill>
                  <a:srgbClr val="1F2937"/>
                </a:solidFill>
              </a:rPr>
              <a:t>Embedding model:</a:t>
            </a:r>
            <a:endParaRPr lang="en-US" sz="1600" dirty="0"/>
          </a:p>
          <a:p>
            <a:pPr indent="0" marL="0">
              <a:buNone/>
            </a:pPr>
            <a:r>
              <a:rPr lang="en-US" sz="1600" dirty="0">
                <a:solidFill>
                  <a:srgbClr val="1F2937"/>
                </a:solidFill>
              </a:rPr>
              <a:t>sentence-transformers/all-MiniLM-L6-v2</a:t>
            </a:r>
            <a:endParaRPr lang="en-US" sz="1600" dirty="0"/>
          </a:p>
          <a:p>
            <a:pPr indent="0" marL="0">
              <a:buNone/>
            </a:pPr>
            <a:endParaRPr lang="en-US" sz="1600" dirty="0"/>
          </a:p>
          <a:p>
            <a:pPr indent="0" marL="0">
              <a:buNone/>
            </a:pPr>
            <a:r>
              <a:rPr lang="en-US" sz="1600" dirty="0">
                <a:solidFill>
                  <a:srgbClr val="1F2937"/>
                </a:solidFill>
              </a:rPr>
              <a:t>Other tools:</a:t>
            </a:r>
            <a:endParaRPr lang="en-US" sz="1600" dirty="0"/>
          </a:p>
          <a:p>
            <a:pPr indent="0" marL="0">
              <a:buNone/>
            </a:pPr>
            <a:r>
              <a:rPr lang="en-US" sz="1600" dirty="0">
                <a:solidFill>
                  <a:srgbClr val="1F2937"/>
                </a:solidFill>
              </a:rPr>
              <a:t>Python, pandas, GitHub dataset files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48640" y="320040"/>
            <a:ext cx="8686800" cy="457200"/>
          </a:xfrm>
          <a:prstGeom prst="rect">
            <a:avLst/>
          </a:prstGeom>
          <a:noFill/>
          <a:ln/>
        </p:spPr>
        <p:txBody>
          <a:bodyPr wrap="square" rtlCol="0" anchor="ctr"/>
          <a:lstStyle/>
          <a:p>
            <a:pPr indent="0" marL="0">
              <a:buNone/>
            </a:pPr>
            <a:r>
              <a:rPr lang="en-US" sz="2400" b="1" dirty="0">
                <a:solidFill>
                  <a:srgbClr val="19324D"/>
                </a:solidFill>
                <a:latin typeface="Aptos Display" pitchFamily="34" charset="0"/>
                <a:ea typeface="Aptos Display" pitchFamily="34" charset="-122"/>
                <a:cs typeface="Aptos Display" pitchFamily="34" charset="-120"/>
              </a:rPr>
              <a:t>What Is The Project?</a:t>
            </a:r>
            <a:endParaRPr lang="en-US" sz="2400" dirty="0"/>
          </a:p>
        </p:txBody>
      </p:sp>
      <p:sp>
        <p:nvSpPr>
          <p:cNvPr id="3" name="Text 1"/>
          <p:cNvSpPr/>
          <p:nvPr/>
        </p:nvSpPr>
        <p:spPr>
          <a:xfrm>
            <a:off x="548640" y="804672"/>
            <a:ext cx="10515600" cy="320040"/>
          </a:xfrm>
          <a:prstGeom prst="rect">
            <a:avLst/>
          </a:prstGeom>
          <a:noFill/>
          <a:ln/>
        </p:spPr>
        <p:txBody>
          <a:bodyPr wrap="square" rtlCol="0" anchor="ctr"/>
          <a:lstStyle/>
          <a:p>
            <a:pPr indent="0" marL="0">
              <a:buNone/>
            </a:pPr>
            <a:r>
              <a:rPr lang="en-US" sz="1050" dirty="0">
                <a:solidFill>
                  <a:srgbClr val="40566B"/>
                </a:solidFill>
                <a:latin typeface="Aptos" pitchFamily="34" charset="0"/>
                <a:ea typeface="Aptos" pitchFamily="34" charset="-122"/>
                <a:cs typeface="Aptos" pitchFamily="34" charset="-120"/>
              </a:rPr>
              <a:t>RAG-based financial question answering</a:t>
            </a:r>
            <a:endParaRPr lang="en-US" sz="1050" dirty="0"/>
          </a:p>
        </p:txBody>
      </p:sp>
      <p:sp>
        <p:nvSpPr>
          <p:cNvPr id="4" name="Shape 2"/>
          <p:cNvSpPr/>
          <p:nvPr/>
        </p:nvSpPr>
        <p:spPr>
          <a:xfrm>
            <a:off x="548640" y="1115568"/>
            <a:ext cx="10515600" cy="0"/>
          </a:xfrm>
          <a:prstGeom prst="line">
            <a:avLst/>
          </a:prstGeom>
          <a:noFill/>
          <a:ln w="12700">
            <a:solidFill>
              <a:srgbClr val="C98A2E"/>
            </a:solidFill>
            <a:prstDash val="solid"/>
          </a:ln>
        </p:spPr>
      </p:sp>
      <p:sp>
        <p:nvSpPr>
          <p:cNvPr id="5" name="Shape 3"/>
          <p:cNvSpPr/>
          <p:nvPr/>
        </p:nvSpPr>
        <p:spPr>
          <a:xfrm>
            <a:off x="731520" y="1508760"/>
            <a:ext cx="3840480" cy="3246120"/>
          </a:xfrm>
          <a:prstGeom prst="roundRect">
            <a:avLst/>
          </a:prstGeom>
          <a:solidFill>
            <a:srgbClr val="FFFFFF"/>
          </a:solidFill>
          <a:ln w="12700">
            <a:solidFill>
              <a:srgbClr val="C98A2E"/>
            </a:solidFill>
            <a:prstDash val="solid"/>
          </a:ln>
        </p:spPr>
      </p:sp>
      <p:sp>
        <p:nvSpPr>
          <p:cNvPr id="6" name="Text 4"/>
          <p:cNvSpPr/>
          <p:nvPr/>
        </p:nvSpPr>
        <p:spPr>
          <a:xfrm>
            <a:off x="1005840" y="1783080"/>
            <a:ext cx="2103120" cy="274320"/>
          </a:xfrm>
          <a:prstGeom prst="rect">
            <a:avLst/>
          </a:prstGeom>
          <a:noFill/>
          <a:ln/>
        </p:spPr>
        <p:txBody>
          <a:bodyPr wrap="square" rtlCol="0" anchor="ctr"/>
          <a:lstStyle/>
          <a:p>
            <a:pPr indent="0" marL="0">
              <a:buNone/>
            </a:pPr>
            <a:r>
              <a:rPr lang="en-US" sz="1800" b="1" dirty="0">
                <a:solidFill>
                  <a:srgbClr val="19324D"/>
                </a:solidFill>
              </a:rPr>
              <a:t>RAG definition</a:t>
            </a:r>
            <a:endParaRPr lang="en-US" sz="1800" dirty="0"/>
          </a:p>
        </p:txBody>
      </p:sp>
      <p:sp>
        <p:nvSpPr>
          <p:cNvPr id="7" name="Text 5"/>
          <p:cNvSpPr/>
          <p:nvPr/>
        </p:nvSpPr>
        <p:spPr>
          <a:xfrm>
            <a:off x="1005840" y="2148840"/>
            <a:ext cx="3154680" cy="2011680"/>
          </a:xfrm>
          <a:prstGeom prst="rect">
            <a:avLst/>
          </a:prstGeom>
          <a:noFill/>
          <a:ln/>
        </p:spPr>
        <p:txBody>
          <a:bodyPr wrap="square" rtlCol="0" anchor="ctr"/>
          <a:lstStyle/>
          <a:p>
            <a:pPr indent="0" marL="0">
              <a:buNone/>
            </a:pPr>
            <a:r>
              <a:rPr lang="en-US" sz="1700" dirty="0">
                <a:solidFill>
                  <a:srgbClr val="1F2937"/>
                </a:solidFill>
              </a:rPr>
              <a:t>Retrieval-Augmented Generation means the system first retrieves relevant information from source documents and then uses that retrieved information to help generate the answer.</a:t>
            </a:r>
            <a:endParaRPr lang="en-US" sz="1700" dirty="0"/>
          </a:p>
        </p:txBody>
      </p:sp>
      <p:sp>
        <p:nvSpPr>
          <p:cNvPr id="8" name="Shape 6"/>
          <p:cNvSpPr/>
          <p:nvPr/>
        </p:nvSpPr>
        <p:spPr>
          <a:xfrm>
            <a:off x="4983480" y="1508760"/>
            <a:ext cx="6172200" cy="3246120"/>
          </a:xfrm>
          <a:prstGeom prst="roundRect">
            <a:avLst/>
          </a:prstGeom>
          <a:solidFill>
            <a:srgbClr val="19324D"/>
          </a:solidFill>
          <a:ln w="12700">
            <a:solidFill>
              <a:srgbClr val="19324D"/>
            </a:solidFill>
            <a:prstDash val="solid"/>
          </a:ln>
        </p:spPr>
      </p:sp>
      <p:sp>
        <p:nvSpPr>
          <p:cNvPr id="9" name="Text 7"/>
          <p:cNvSpPr/>
          <p:nvPr/>
        </p:nvSpPr>
        <p:spPr>
          <a:xfrm>
            <a:off x="5303520" y="1783080"/>
            <a:ext cx="3474720" cy="274320"/>
          </a:xfrm>
          <a:prstGeom prst="rect">
            <a:avLst/>
          </a:prstGeom>
          <a:noFill/>
          <a:ln/>
        </p:spPr>
        <p:txBody>
          <a:bodyPr wrap="square" rtlCol="0" anchor="ctr"/>
          <a:lstStyle/>
          <a:p>
            <a:pPr indent="0" marL="0">
              <a:buNone/>
            </a:pPr>
            <a:r>
              <a:rPr lang="en-US" sz="1800" b="1" dirty="0">
                <a:solidFill>
                  <a:srgbClr val="FFFFFF"/>
                </a:solidFill>
              </a:rPr>
              <a:t>Project definition</a:t>
            </a:r>
            <a:endParaRPr lang="en-US" sz="1800" dirty="0"/>
          </a:p>
        </p:txBody>
      </p:sp>
      <p:sp>
        <p:nvSpPr>
          <p:cNvPr id="10" name="Text 8"/>
          <p:cNvSpPr/>
          <p:nvPr/>
        </p:nvSpPr>
        <p:spPr>
          <a:xfrm>
            <a:off x="5303520" y="2121408"/>
            <a:ext cx="5440680" cy="2331720"/>
          </a:xfrm>
          <a:prstGeom prst="rect">
            <a:avLst/>
          </a:prstGeom>
          <a:noFill/>
          <a:ln/>
        </p:spPr>
        <p:txBody>
          <a:bodyPr wrap="square" rtlCol="0" anchor="ctr"/>
          <a:lstStyle/>
          <a:p>
            <a:pPr indent="0" marL="0">
              <a:buNone/>
            </a:pPr>
            <a:r>
              <a:rPr lang="en-US" sz="1620" dirty="0">
                <a:solidFill>
                  <a:srgbClr val="FFFFFF"/>
                </a:solidFill>
              </a:rPr>
              <a:t>The project focuses on evidence-grounded financial question answering.</a:t>
            </a:r>
            <a:endParaRPr lang="en-US" sz="1620" dirty="0"/>
          </a:p>
          <a:p>
            <a:pPr indent="0" marL="0">
              <a:buNone/>
            </a:pPr>
            <a:r>
              <a:rPr lang="en-US" sz="1620" dirty="0">
                <a:solidFill>
                  <a:srgbClr val="FFFFFF"/>
                </a:solidFill>
              </a:rPr>
              <a:t>For each question, the system retrieves the most relevant text and table evidence from the source report associated with that example.</a:t>
            </a:r>
            <a:endParaRPr lang="en-US" sz="1620" dirty="0"/>
          </a:p>
          <a:p>
            <a:pPr indent="0" marL="0">
              <a:buNone/>
            </a:pPr>
            <a:r>
              <a:rPr lang="en-US" sz="1620" dirty="0">
                <a:solidFill>
                  <a:srgbClr val="FFFFFF"/>
                </a:solidFill>
              </a:rPr>
              <a:t>The retrieved evidence is then used to support answer generation, followed by a check on whether the answer is truly supported by the retrieved source material.</a:t>
            </a:r>
            <a:endParaRPr lang="en-US" sz="16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686800" cy="457200"/>
          </a:xfrm>
          <a:prstGeom prst="rect">
            <a:avLst/>
          </a:prstGeom>
          <a:noFill/>
          <a:ln/>
        </p:spPr>
        <p:txBody>
          <a:bodyPr wrap="square" rtlCol="0" anchor="ctr"/>
          <a:lstStyle/>
          <a:p>
            <a:pPr indent="0" marL="0">
              <a:buNone/>
            </a:pPr>
            <a:r>
              <a:rPr lang="en-US" sz="2400" b="1" dirty="0">
                <a:solidFill>
                  <a:srgbClr val="19324D"/>
                </a:solidFill>
                <a:latin typeface="Aptos Display" pitchFamily="34" charset="0"/>
                <a:ea typeface="Aptos Display" pitchFamily="34" charset="-122"/>
                <a:cs typeface="Aptos Display" pitchFamily="34" charset="-120"/>
              </a:rPr>
              <a:t>Questions Of Interest</a:t>
            </a:r>
            <a:endParaRPr lang="en-US" sz="2400" dirty="0"/>
          </a:p>
        </p:txBody>
      </p:sp>
      <p:sp>
        <p:nvSpPr>
          <p:cNvPr id="3" name="Shape 1"/>
          <p:cNvSpPr/>
          <p:nvPr/>
        </p:nvSpPr>
        <p:spPr>
          <a:xfrm>
            <a:off x="548640" y="1115568"/>
            <a:ext cx="10515600" cy="0"/>
          </a:xfrm>
          <a:prstGeom prst="line">
            <a:avLst/>
          </a:prstGeom>
          <a:noFill/>
          <a:ln w="12700">
            <a:solidFill>
              <a:srgbClr val="C98A2E"/>
            </a:solidFill>
            <a:prstDash val="solid"/>
          </a:ln>
        </p:spPr>
      </p:sp>
      <p:sp>
        <p:nvSpPr>
          <p:cNvPr id="4" name="Text 2"/>
          <p:cNvSpPr/>
          <p:nvPr/>
        </p:nvSpPr>
        <p:spPr>
          <a:xfrm>
            <a:off x="822960" y="1508760"/>
            <a:ext cx="10149840" cy="4389120"/>
          </a:xfrm>
          <a:prstGeom prst="rect">
            <a:avLst/>
          </a:prstGeom>
          <a:noFill/>
          <a:ln/>
        </p:spPr>
        <p:txBody>
          <a:bodyPr wrap="square" lIns="762" tIns="762" rIns="762" bIns="762" rtlCol="0" anchor="t"/>
          <a:lstStyle/>
          <a:p>
            <a:pPr marL="152400" indent="-152400">
              <a:buSzPct val="100000"/>
              <a:buChar char="•"/>
            </a:pPr>
            <a:r>
              <a:rPr lang="en-US" sz="1800" dirty="0">
                <a:solidFill>
                  <a:srgbClr val="1F2937"/>
                </a:solidFill>
                <a:latin typeface="Aptos" pitchFamily="34" charset="0"/>
                <a:ea typeface="Aptos" pitchFamily="34" charset="-122"/>
                <a:cs typeface="Aptos" pitchFamily="34" charset="-120"/>
              </a:rPr>
              <a:t>Can a simple baseline retriever find the correct text or table evidence for a financial question?</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Does using table content help more than using text alone?</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How often does the retrieved evidence align with the dataset’s gold evidence fields?</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If I later add answer generation, can I label answers as supported, weakly supported, or unsupported?</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Can this project connect an audit mindset to LLM-based financial QA?</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48640" y="320040"/>
            <a:ext cx="8686800" cy="457200"/>
          </a:xfrm>
          <a:prstGeom prst="rect">
            <a:avLst/>
          </a:prstGeom>
          <a:noFill/>
          <a:ln/>
        </p:spPr>
        <p:txBody>
          <a:bodyPr wrap="square" rtlCol="0" anchor="ctr"/>
          <a:lstStyle/>
          <a:p>
            <a:pPr indent="0" marL="0">
              <a:buNone/>
            </a:pPr>
            <a:r>
              <a:rPr lang="en-US" sz="2400" b="1" dirty="0">
                <a:solidFill>
                  <a:srgbClr val="19324D"/>
                </a:solidFill>
                <a:latin typeface="Aptos Display" pitchFamily="34" charset="0"/>
                <a:ea typeface="Aptos Display" pitchFamily="34" charset="-122"/>
                <a:cs typeface="Aptos Display" pitchFamily="34" charset="-120"/>
              </a:rPr>
              <a:t>Ways To Visualize The Dataset</a:t>
            </a:r>
            <a:endParaRPr lang="en-US" sz="2400" dirty="0"/>
          </a:p>
        </p:txBody>
      </p:sp>
      <p:sp>
        <p:nvSpPr>
          <p:cNvPr id="3" name="Text 1"/>
          <p:cNvSpPr/>
          <p:nvPr/>
        </p:nvSpPr>
        <p:spPr>
          <a:xfrm>
            <a:off x="548640" y="804672"/>
            <a:ext cx="10515600" cy="320040"/>
          </a:xfrm>
          <a:prstGeom prst="rect">
            <a:avLst/>
          </a:prstGeom>
          <a:noFill/>
          <a:ln/>
        </p:spPr>
        <p:txBody>
          <a:bodyPr wrap="square" rtlCol="0" anchor="ctr"/>
          <a:lstStyle/>
          <a:p>
            <a:pPr indent="0" marL="0">
              <a:buNone/>
            </a:pPr>
            <a:r>
              <a:rPr lang="en-US" sz="1050" dirty="0">
                <a:solidFill>
                  <a:srgbClr val="40566B"/>
                </a:solidFill>
                <a:latin typeface="Aptos" pitchFamily="34" charset="0"/>
                <a:ea typeface="Aptos" pitchFamily="34" charset="-122"/>
                <a:cs typeface="Aptos" pitchFamily="34" charset="-120"/>
              </a:rPr>
              <a:t>Plus the planned project flow</a:t>
            </a:r>
            <a:endParaRPr lang="en-US" sz="1050" dirty="0"/>
          </a:p>
        </p:txBody>
      </p:sp>
      <p:sp>
        <p:nvSpPr>
          <p:cNvPr id="4" name="Shape 2"/>
          <p:cNvSpPr/>
          <p:nvPr/>
        </p:nvSpPr>
        <p:spPr>
          <a:xfrm>
            <a:off x="548640" y="1115568"/>
            <a:ext cx="10515600" cy="0"/>
          </a:xfrm>
          <a:prstGeom prst="line">
            <a:avLst/>
          </a:prstGeom>
          <a:noFill/>
          <a:ln w="12700">
            <a:solidFill>
              <a:srgbClr val="C98A2E"/>
            </a:solidFill>
            <a:prstDash val="solid"/>
          </a:ln>
        </p:spPr>
      </p:sp>
      <p:sp>
        <p:nvSpPr>
          <p:cNvPr id="5" name="Text 3"/>
          <p:cNvSpPr/>
          <p:nvPr/>
        </p:nvSpPr>
        <p:spPr>
          <a:xfrm>
            <a:off x="731520" y="1417320"/>
            <a:ext cx="2560320" cy="274320"/>
          </a:xfrm>
          <a:prstGeom prst="rect">
            <a:avLst/>
          </a:prstGeom>
          <a:noFill/>
          <a:ln/>
        </p:spPr>
        <p:txBody>
          <a:bodyPr wrap="square" rtlCol="0" anchor="ctr"/>
          <a:lstStyle/>
          <a:p>
            <a:pPr indent="0" marL="0">
              <a:buNone/>
            </a:pPr>
            <a:r>
              <a:rPr lang="en-US" sz="1800" b="1" dirty="0">
                <a:solidFill>
                  <a:srgbClr val="19324D"/>
                </a:solidFill>
              </a:rPr>
              <a:t>Example visualization</a:t>
            </a:r>
            <a:endParaRPr lang="en-US" sz="1800" dirty="0"/>
          </a:p>
        </p:txBody>
      </p:sp>
      <p:pic>
        <p:nvPicPr>
          <p:cNvPr id="6" name="Image 0" descr="/Users/lasya/finance_audit_rag/outputs/finqa_split_bar_chart.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5800" y="1783080"/>
            <a:ext cx="5120640" cy="3794760"/>
          </a:xfrm>
          <a:prstGeom prst="rect">
            <a:avLst/>
          </a:prstGeom>
        </p:spPr>
      </p:pic>
      <p:sp>
        <p:nvSpPr>
          <p:cNvPr id="7" name="Text 4"/>
          <p:cNvSpPr/>
          <p:nvPr/>
        </p:nvSpPr>
        <p:spPr>
          <a:xfrm>
            <a:off x="6309360" y="1417320"/>
            <a:ext cx="2377440" cy="274320"/>
          </a:xfrm>
          <a:prstGeom prst="rect">
            <a:avLst/>
          </a:prstGeom>
          <a:noFill/>
          <a:ln/>
        </p:spPr>
        <p:txBody>
          <a:bodyPr wrap="square" rtlCol="0" anchor="ctr"/>
          <a:lstStyle/>
          <a:p>
            <a:pPr indent="0" marL="0">
              <a:buNone/>
            </a:pPr>
            <a:r>
              <a:rPr lang="en-US" sz="1800" b="1" dirty="0">
                <a:solidFill>
                  <a:srgbClr val="19324D"/>
                </a:solidFill>
              </a:rPr>
              <a:t>Project flow chart</a:t>
            </a:r>
            <a:endParaRPr lang="en-US" sz="1800" dirty="0"/>
          </a:p>
        </p:txBody>
      </p:sp>
      <p:sp>
        <p:nvSpPr>
          <p:cNvPr id="8" name="Shape 5"/>
          <p:cNvSpPr/>
          <p:nvPr/>
        </p:nvSpPr>
        <p:spPr>
          <a:xfrm>
            <a:off x="6355080" y="1874520"/>
            <a:ext cx="1508760" cy="640080"/>
          </a:xfrm>
          <a:prstGeom prst="roundRect">
            <a:avLst>
              <a:gd name="adj" fmla="val 8571"/>
            </a:avLst>
          </a:prstGeom>
          <a:solidFill>
            <a:srgbClr val="E8EEF3"/>
          </a:solidFill>
          <a:ln w="12700">
            <a:solidFill>
              <a:srgbClr val="E8EEF3"/>
            </a:solidFill>
            <a:prstDash val="solid"/>
          </a:ln>
        </p:spPr>
      </p:sp>
      <p:sp>
        <p:nvSpPr>
          <p:cNvPr id="9" name="Text 6"/>
          <p:cNvSpPr/>
          <p:nvPr/>
        </p:nvSpPr>
        <p:spPr>
          <a:xfrm>
            <a:off x="6428232" y="1975104"/>
            <a:ext cx="1362456" cy="475488"/>
          </a:xfrm>
          <a:prstGeom prst="rect">
            <a:avLst/>
          </a:prstGeom>
          <a:noFill/>
          <a:ln/>
        </p:spPr>
        <p:txBody>
          <a:bodyPr wrap="square" rtlCol="0" anchor="ctr"/>
          <a:lstStyle/>
          <a:p>
            <a:pPr algn="ctr" indent="0" marL="0">
              <a:buNone/>
            </a:pPr>
            <a:r>
              <a:rPr lang="en-US" sz="1400" b="1" dirty="0">
                <a:solidFill>
                  <a:srgbClr val="1F2937"/>
                </a:solidFill>
                <a:latin typeface="Aptos" pitchFamily="34" charset="0"/>
                <a:ea typeface="Aptos" pitchFamily="34" charset="-122"/>
                <a:cs typeface="Aptos" pitchFamily="34" charset="-120"/>
              </a:rPr>
              <a:t>FinQA dataset</a:t>
            </a:r>
            <a:endParaRPr lang="en-US" sz="1400" dirty="0"/>
          </a:p>
        </p:txBody>
      </p:sp>
      <p:sp>
        <p:nvSpPr>
          <p:cNvPr id="10" name="Shape 7"/>
          <p:cNvSpPr/>
          <p:nvPr/>
        </p:nvSpPr>
        <p:spPr>
          <a:xfrm>
            <a:off x="7973568" y="2039112"/>
            <a:ext cx="411480" cy="292608"/>
          </a:xfrm>
          <a:prstGeom prst="chevron">
            <a:avLst/>
          </a:prstGeom>
          <a:solidFill>
            <a:srgbClr val="C98A2E"/>
          </a:solidFill>
          <a:ln w="12700">
            <a:solidFill>
              <a:srgbClr val="C98A2E"/>
            </a:solidFill>
            <a:prstDash val="solid"/>
          </a:ln>
        </p:spPr>
      </p:sp>
      <p:sp>
        <p:nvSpPr>
          <p:cNvPr id="11" name="Shape 8"/>
          <p:cNvSpPr/>
          <p:nvPr/>
        </p:nvSpPr>
        <p:spPr>
          <a:xfrm>
            <a:off x="8412480" y="1874520"/>
            <a:ext cx="1920240" cy="640080"/>
          </a:xfrm>
          <a:prstGeom prst="roundRect">
            <a:avLst>
              <a:gd name="adj" fmla="val 8571"/>
            </a:avLst>
          </a:prstGeom>
          <a:solidFill>
            <a:srgbClr val="E8EEF3"/>
          </a:solidFill>
          <a:ln w="12700">
            <a:solidFill>
              <a:srgbClr val="E8EEF3"/>
            </a:solidFill>
            <a:prstDash val="solid"/>
          </a:ln>
        </p:spPr>
      </p:sp>
      <p:sp>
        <p:nvSpPr>
          <p:cNvPr id="12" name="Text 9"/>
          <p:cNvSpPr/>
          <p:nvPr/>
        </p:nvSpPr>
        <p:spPr>
          <a:xfrm>
            <a:off x="8485632" y="1975104"/>
            <a:ext cx="1773936" cy="475488"/>
          </a:xfrm>
          <a:prstGeom prst="rect">
            <a:avLst/>
          </a:prstGeom>
          <a:noFill/>
          <a:ln/>
        </p:spPr>
        <p:txBody>
          <a:bodyPr wrap="square" rtlCol="0" anchor="ctr"/>
          <a:lstStyle/>
          <a:p>
            <a:pPr algn="ctr" indent="0" marL="0">
              <a:buNone/>
            </a:pPr>
            <a:r>
              <a:rPr lang="en-US" sz="1400" b="1" dirty="0">
                <a:solidFill>
                  <a:srgbClr val="1F2937"/>
                </a:solidFill>
                <a:latin typeface="Aptos" pitchFamily="34" charset="0"/>
                <a:ea typeface="Aptos" pitchFamily="34" charset="-122"/>
                <a:cs typeface="Aptos" pitchFamily="34" charset="-120"/>
              </a:rPr>
              <a:t>Split into text + table units</a:t>
            </a:r>
            <a:endParaRPr lang="en-US" sz="1400" dirty="0"/>
          </a:p>
        </p:txBody>
      </p:sp>
      <p:sp>
        <p:nvSpPr>
          <p:cNvPr id="13" name="Shape 10"/>
          <p:cNvSpPr/>
          <p:nvPr/>
        </p:nvSpPr>
        <p:spPr>
          <a:xfrm>
            <a:off x="10442448" y="2039112"/>
            <a:ext cx="411480" cy="292608"/>
          </a:xfrm>
          <a:prstGeom prst="chevron">
            <a:avLst/>
          </a:prstGeom>
          <a:solidFill>
            <a:srgbClr val="C98A2E"/>
          </a:solidFill>
          <a:ln w="12700">
            <a:solidFill>
              <a:srgbClr val="C98A2E"/>
            </a:solidFill>
            <a:prstDash val="solid"/>
          </a:ln>
        </p:spPr>
      </p:sp>
      <p:sp>
        <p:nvSpPr>
          <p:cNvPr id="14" name="Shape 11"/>
          <p:cNvSpPr/>
          <p:nvPr/>
        </p:nvSpPr>
        <p:spPr>
          <a:xfrm>
            <a:off x="6355080" y="2880360"/>
            <a:ext cx="2011680" cy="640080"/>
          </a:xfrm>
          <a:prstGeom prst="roundRect">
            <a:avLst>
              <a:gd name="adj" fmla="val 8571"/>
            </a:avLst>
          </a:prstGeom>
          <a:solidFill>
            <a:srgbClr val="0E7490"/>
          </a:solidFill>
          <a:ln w="12700">
            <a:solidFill>
              <a:srgbClr val="0E7490"/>
            </a:solidFill>
            <a:prstDash val="solid"/>
          </a:ln>
        </p:spPr>
      </p:sp>
      <p:sp>
        <p:nvSpPr>
          <p:cNvPr id="15" name="Text 12"/>
          <p:cNvSpPr/>
          <p:nvPr/>
        </p:nvSpPr>
        <p:spPr>
          <a:xfrm>
            <a:off x="6428232" y="2980944"/>
            <a:ext cx="1865376" cy="475488"/>
          </a:xfrm>
          <a:prstGeom prst="rect">
            <a:avLst/>
          </a:prstGeom>
          <a:noFill/>
          <a:ln/>
        </p:spPr>
        <p:txBody>
          <a:bodyPr wrap="square"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Embed and retrieve evidence</a:t>
            </a:r>
            <a:endParaRPr lang="en-US" sz="1400" dirty="0"/>
          </a:p>
        </p:txBody>
      </p:sp>
      <p:sp>
        <p:nvSpPr>
          <p:cNvPr id="16" name="Shape 13"/>
          <p:cNvSpPr/>
          <p:nvPr/>
        </p:nvSpPr>
        <p:spPr>
          <a:xfrm>
            <a:off x="8485632" y="3044952"/>
            <a:ext cx="411480" cy="292608"/>
          </a:xfrm>
          <a:prstGeom prst="chevron">
            <a:avLst/>
          </a:prstGeom>
          <a:solidFill>
            <a:srgbClr val="C98A2E"/>
          </a:solidFill>
          <a:ln w="12700">
            <a:solidFill>
              <a:srgbClr val="C98A2E"/>
            </a:solidFill>
            <a:prstDash val="solid"/>
          </a:ln>
        </p:spPr>
      </p:sp>
      <p:sp>
        <p:nvSpPr>
          <p:cNvPr id="17" name="Shape 14"/>
          <p:cNvSpPr/>
          <p:nvPr/>
        </p:nvSpPr>
        <p:spPr>
          <a:xfrm>
            <a:off x="8942832" y="2880360"/>
            <a:ext cx="1645920" cy="640080"/>
          </a:xfrm>
          <a:prstGeom prst="roundRect">
            <a:avLst>
              <a:gd name="adj" fmla="val 8571"/>
            </a:avLst>
          </a:prstGeom>
          <a:solidFill>
            <a:srgbClr val="E8EEF3"/>
          </a:solidFill>
          <a:ln w="12700">
            <a:solidFill>
              <a:srgbClr val="E8EEF3"/>
            </a:solidFill>
            <a:prstDash val="solid"/>
          </a:ln>
        </p:spPr>
      </p:sp>
      <p:sp>
        <p:nvSpPr>
          <p:cNvPr id="18" name="Text 15"/>
          <p:cNvSpPr/>
          <p:nvPr/>
        </p:nvSpPr>
        <p:spPr>
          <a:xfrm>
            <a:off x="9015984" y="2980944"/>
            <a:ext cx="1499616" cy="475488"/>
          </a:xfrm>
          <a:prstGeom prst="rect">
            <a:avLst/>
          </a:prstGeom>
          <a:noFill/>
          <a:ln/>
        </p:spPr>
        <p:txBody>
          <a:bodyPr wrap="square" rtlCol="0" anchor="ctr"/>
          <a:lstStyle/>
          <a:p>
            <a:pPr algn="ctr" indent="0" marL="0">
              <a:buNone/>
            </a:pPr>
            <a:r>
              <a:rPr lang="en-US" sz="1400" b="1" dirty="0">
                <a:solidFill>
                  <a:srgbClr val="1F2937"/>
                </a:solidFill>
                <a:latin typeface="Aptos" pitchFamily="34" charset="0"/>
                <a:ea typeface="Aptos" pitchFamily="34" charset="-122"/>
                <a:cs typeface="Aptos" pitchFamily="34" charset="-120"/>
              </a:rPr>
              <a:t>Generate answer</a:t>
            </a:r>
            <a:endParaRPr lang="en-US" sz="1400" dirty="0"/>
          </a:p>
        </p:txBody>
      </p:sp>
      <p:sp>
        <p:nvSpPr>
          <p:cNvPr id="19" name="Shape 16"/>
          <p:cNvSpPr/>
          <p:nvPr/>
        </p:nvSpPr>
        <p:spPr>
          <a:xfrm>
            <a:off x="6355080" y="4041648"/>
            <a:ext cx="411480" cy="292608"/>
          </a:xfrm>
          <a:prstGeom prst="chevron">
            <a:avLst/>
          </a:prstGeom>
          <a:solidFill>
            <a:srgbClr val="C98A2E"/>
          </a:solidFill>
          <a:ln w="12700">
            <a:solidFill>
              <a:srgbClr val="C98A2E"/>
            </a:solidFill>
            <a:prstDash val="solid"/>
          </a:ln>
        </p:spPr>
      </p:sp>
      <p:sp>
        <p:nvSpPr>
          <p:cNvPr id="20" name="Shape 17"/>
          <p:cNvSpPr/>
          <p:nvPr/>
        </p:nvSpPr>
        <p:spPr>
          <a:xfrm>
            <a:off x="6903720" y="3886200"/>
            <a:ext cx="1828800" cy="640080"/>
          </a:xfrm>
          <a:prstGeom prst="roundRect">
            <a:avLst>
              <a:gd name="adj" fmla="val 8571"/>
            </a:avLst>
          </a:prstGeom>
          <a:solidFill>
            <a:srgbClr val="C98A2E"/>
          </a:solidFill>
          <a:ln w="12700">
            <a:solidFill>
              <a:srgbClr val="C98A2E"/>
            </a:solidFill>
            <a:prstDash val="solid"/>
          </a:ln>
        </p:spPr>
      </p:sp>
      <p:sp>
        <p:nvSpPr>
          <p:cNvPr id="21" name="Text 18"/>
          <p:cNvSpPr/>
          <p:nvPr/>
        </p:nvSpPr>
        <p:spPr>
          <a:xfrm>
            <a:off x="6976872" y="3986784"/>
            <a:ext cx="1682496" cy="475488"/>
          </a:xfrm>
          <a:prstGeom prst="rect">
            <a:avLst/>
          </a:prstGeom>
          <a:noFill/>
          <a:ln/>
        </p:spPr>
        <p:txBody>
          <a:bodyPr wrap="square"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Check supportability</a:t>
            </a:r>
            <a:endParaRPr lang="en-US" sz="1400" dirty="0"/>
          </a:p>
        </p:txBody>
      </p:sp>
      <p:sp>
        <p:nvSpPr>
          <p:cNvPr id="22" name="Shape 19"/>
          <p:cNvSpPr/>
          <p:nvPr/>
        </p:nvSpPr>
        <p:spPr>
          <a:xfrm>
            <a:off x="8851392" y="4041648"/>
            <a:ext cx="411480" cy="292608"/>
          </a:xfrm>
          <a:prstGeom prst="chevron">
            <a:avLst/>
          </a:prstGeom>
          <a:solidFill>
            <a:srgbClr val="C98A2E"/>
          </a:solidFill>
          <a:ln w="12700">
            <a:solidFill>
              <a:srgbClr val="C98A2E"/>
            </a:solidFill>
            <a:prstDash val="solid"/>
          </a:ln>
        </p:spPr>
      </p:sp>
      <p:sp>
        <p:nvSpPr>
          <p:cNvPr id="23" name="Shape 20"/>
          <p:cNvSpPr/>
          <p:nvPr/>
        </p:nvSpPr>
        <p:spPr>
          <a:xfrm>
            <a:off x="9400032" y="3886200"/>
            <a:ext cx="1965960" cy="640080"/>
          </a:xfrm>
          <a:prstGeom prst="roundRect">
            <a:avLst>
              <a:gd name="adj" fmla="val 8571"/>
            </a:avLst>
          </a:prstGeom>
          <a:solidFill>
            <a:srgbClr val="3A7D44"/>
          </a:solidFill>
          <a:ln w="12700">
            <a:solidFill>
              <a:srgbClr val="3A7D44"/>
            </a:solidFill>
            <a:prstDash val="solid"/>
          </a:ln>
        </p:spPr>
      </p:sp>
      <p:sp>
        <p:nvSpPr>
          <p:cNvPr id="24" name="Text 21"/>
          <p:cNvSpPr/>
          <p:nvPr/>
        </p:nvSpPr>
        <p:spPr>
          <a:xfrm>
            <a:off x="9473184" y="3986784"/>
            <a:ext cx="1819656" cy="475488"/>
          </a:xfrm>
          <a:prstGeom prst="rect">
            <a:avLst/>
          </a:prstGeom>
          <a:noFill/>
          <a:ln/>
        </p:spPr>
        <p:txBody>
          <a:bodyPr wrap="square"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Output: answer + evidence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Text 1"/>
          <p:cNvSpPr/>
          <p:nvPr/>
        </p:nvSpPr>
        <p:spPr>
          <a:xfrm>
            <a:off x="2926080" y="1828800"/>
            <a:ext cx="6217920" cy="731520"/>
          </a:xfrm>
          <a:prstGeom prst="rect">
            <a:avLst/>
          </a:prstGeom>
          <a:noFill/>
          <a:ln/>
        </p:spPr>
        <p:txBody>
          <a:bodyPr wrap="square" rtlCol="0" anchor="ctr"/>
          <a:lstStyle/>
          <a:p>
            <a:pPr algn="ctr" indent="0" marL="0">
              <a:buNone/>
            </a:pPr>
            <a:r>
              <a:rPr lang="en-US" sz="2800" b="1" dirty="0">
                <a:solidFill>
                  <a:srgbClr val="19324D"/>
                </a:solidFill>
                <a:latin typeface="Aptos Display" pitchFamily="34" charset="0"/>
                <a:ea typeface="Aptos Display" pitchFamily="34" charset="-122"/>
                <a:cs typeface="Aptos Display" pitchFamily="34" charset="-120"/>
              </a:rPr>
              <a:t>Thank You!</a:t>
            </a:r>
            <a:endParaRPr lang="en-US" sz="2800" dirty="0"/>
          </a:p>
        </p:txBody>
      </p:sp>
      <p:sp>
        <p:nvSpPr>
          <p:cNvPr id="4" name="Text 2"/>
          <p:cNvSpPr/>
          <p:nvPr/>
        </p:nvSpPr>
        <p:spPr>
          <a:xfrm>
            <a:off x="3108960" y="2743200"/>
            <a:ext cx="5852160" cy="365760"/>
          </a:xfrm>
          <a:prstGeom prst="rect">
            <a:avLst/>
          </a:prstGeom>
          <a:noFill/>
          <a:ln/>
        </p:spPr>
        <p:txBody>
          <a:bodyPr wrap="square" rtlCol="0" anchor="ctr"/>
          <a:lstStyle/>
          <a:p>
            <a:pPr algn="ctr" indent="0" marL="0">
              <a:buNone/>
            </a:pPr>
            <a:r>
              <a:rPr lang="en-US" sz="1800" dirty="0">
                <a:solidFill>
                  <a:srgbClr val="40566B"/>
                </a:solidFill>
              </a:rPr>
              <a:t>Questions or feedback are welcome.</a:t>
            </a:r>
            <a:endParaRPr lang="en-US" sz="1800" dirty="0"/>
          </a:p>
        </p:txBody>
      </p:sp>
      <p:sp>
        <p:nvSpPr>
          <p:cNvPr id="5" name="Text 3"/>
          <p:cNvSpPr/>
          <p:nvPr/>
        </p:nvSpPr>
        <p:spPr>
          <a:xfrm>
            <a:off x="2743200" y="3703320"/>
            <a:ext cx="6583680" cy="365760"/>
          </a:xfrm>
          <a:prstGeom prst="rect">
            <a:avLst/>
          </a:prstGeom>
          <a:noFill/>
          <a:ln/>
        </p:spPr>
        <p:txBody>
          <a:bodyPr wrap="square" rtlCol="0" anchor="ctr"/>
          <a:lstStyle/>
          <a:p>
            <a:pPr algn="ctr" indent="0" marL="0">
              <a:buNone/>
            </a:pPr>
            <a:r>
              <a:rPr lang="en-US" sz="1600" b="1" dirty="0">
                <a:solidFill>
                  <a:srgbClr val="C98A2E"/>
                </a:solidFill>
              </a:rPr>
              <a:t>FinQA + Haystack + Sentence Transformers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NC State FDS-Emerge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FinQA Project Update</dc:title>
  <dc:subject>FinQA project intro</dc:subject>
  <dc:creator>OpenAI Codex</dc:creator>
  <cp:lastModifiedBy>OpenAI Codex</cp:lastModifiedBy>
  <cp:revision>1</cp:revision>
  <dcterms:created xsi:type="dcterms:W3CDTF">2026-05-20T15:49:51Z</dcterms:created>
  <dcterms:modified xsi:type="dcterms:W3CDTF">2026-05-20T15:49:51Z</dcterms:modified>
</cp:coreProperties>
</file>